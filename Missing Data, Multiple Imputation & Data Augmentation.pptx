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4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2D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20-30</c:v>
                  </c:pt>
                  <c:pt idx="1">
                    <c:v>30-40</c:v>
                  </c:pt>
                  <c:pt idx="2">
                    <c:v>40-50</c:v>
                  </c:pt>
                  <c:pt idx="3">
                    <c:v>50-60</c:v>
                  </c:pt>
                  <c:pt idx="4">
                    <c:v>60-70</c:v>
                  </c:pt>
                  <c:pt idx="5">
                    <c:v>70-80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12</c:v>
                </c:pt>
                <c:pt idx="2">
                  <c:v>18</c:v>
                </c:pt>
                <c:pt idx="3">
                  <c:v>15</c:v>
                </c:pt>
                <c:pt idx="4">
                  <c:v>8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20-30</c:v>
                  </c:pt>
                  <c:pt idx="1">
                    <c:v>30-40</c:v>
                  </c:pt>
                  <c:pt idx="2">
                    <c:v>40-50</c:v>
                  </c:pt>
                  <c:pt idx="3">
                    <c:v>50-60</c:v>
                  </c:pt>
                  <c:pt idx="4">
                    <c:v>60-70</c:v>
                  </c:pt>
                  <c:pt idx="5">
                    <c:v>70-80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12</c:v>
                </c:pt>
                <c:pt idx="2">
                  <c:v>32</c:v>
                </c:pt>
                <c:pt idx="3">
                  <c:v>15</c:v>
                </c:pt>
                <c:pt idx="4">
                  <c:v>8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2D3A5C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2D3A5C"/>
              </a:solidFill>
              <a:ln w="9525" cap="flat">
                <a:solidFill>
                  <a:srgbClr val="2D3A5C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45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69f-782f-474f-f3a4b3667bbd}"/>
                </c:ext>
              </c:extLst>
            </c:dLbl>
            <c:dLbl>
              <c:idx val="1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52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69f-782f-474f-f3a4b3667bbd}"/>
                </c:ext>
              </c:extLst>
            </c:dLbl>
            <c:dLbl>
              <c:idx val="2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58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69f-782f-474f-f3a4b3667bbd}"/>
                </c:ext>
              </c:extLst>
            </c:dLbl>
            <c:dLbl>
              <c:idx val="3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65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69f-782f-474f-f3a4b3667bbd}"/>
                </c:ext>
              </c:extLst>
            </c:dLbl>
            <c:dLbl>
              <c:idx val="4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70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69f-782f-474f-f3a4b3667bbd}"/>
                </c:ext>
              </c:extLst>
            </c:dLbl>
            <c:dLbl>
              <c:idx val="5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/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69f-782f-474f-f3a4b3667bbd}"/>
                </c:ext>
              </c:extLst>
            </c:dLbl>
            <c:dLbl>
              <c:idx val="6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82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69f-782f-474f-f3a4b3667bbd}"/>
                </c:ext>
              </c:extLst>
            </c:dLbl>
            <c:dLbl>
              <c:idx val="7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88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69f-782f-474f-f3a4b3667bbd}"/>
                </c:ext>
              </c:extLst>
            </c:dLbl>
          </c:dLbls>
          <c:xVal>
            <c:numRef>
              <c:f>Sheet1!$A$2:$A$9</c:f>
              <c:numCache>
                <c:formatCode>General</c:formatCode>
                <c:ptCount val="8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45</c:v>
                </c:pt>
                <c:pt idx="1">
                  <c:v>52</c:v>
                </c:pt>
                <c:pt idx="2">
                  <c:v>58</c:v>
                </c:pt>
                <c:pt idx="3">
                  <c:v>65</c:v>
                </c:pt>
                <c:pt idx="4">
                  <c:v>70</c:v>
                </c:pt>
                <c:pt idx="5">
                  <c:v>0</c:v>
                </c:pt>
                <c:pt idx="6">
                  <c:v>82</c:v>
                </c:pt>
                <c:pt idx="7">
                  <c:v>88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Imputed</c:v>
                </c:pt>
              </c:strCache>
            </c:strRef>
          </c:tx>
          <c:spPr>
            <a:solidFill>
              <a:srgbClr val="E67E22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/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263-20eb-63ac-a2f1b8de2d9f}"/>
                </c:ext>
              </c:extLst>
            </c:dLbl>
            <c:dLbl>
              <c:idx val="1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/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263-20eb-63ac-a2f1b8de2d9f}"/>
                </c:ext>
              </c:extLst>
            </c:dLbl>
            <c:dLbl>
              <c:idx val="2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/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263-20eb-63ac-a2f1b8de2d9f}"/>
                </c:ext>
              </c:extLst>
            </c:dLbl>
            <c:dLbl>
              <c:idx val="3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/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263-20eb-63ac-a2f1b8de2d9f}"/>
                </c:ext>
              </c:extLst>
            </c:dLbl>
            <c:dLbl>
              <c:idx val="4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/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263-20eb-63ac-a2f1b8de2d9f}"/>
                </c:ext>
              </c:extLst>
            </c:dLbl>
            <c:dLbl>
              <c:idx val="5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78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263-20eb-63ac-a2f1b8de2d9f}"/>
                </c:ext>
              </c:extLst>
            </c:dLbl>
            <c:dLbl>
              <c:idx val="6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/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263-20eb-63ac-a2f1b8de2d9f}"/>
                </c:ext>
              </c:extLst>
            </c:dLbl>
            <c:dLbl>
              <c:idx val="7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/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263-20eb-63ac-a2f1b8de2d9f}"/>
                </c:ext>
              </c:extLst>
            </c:dLbl>
          </c:dLbls>
          <c:xVal>
            <c:numRef>
              <c:f>Sheet1!$A$2:$A$9</c:f>
              <c:numCache>
                <c:formatCode>General</c:formatCode>
                <c:ptCount val="8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</c:numCache>
            </c:numRef>
          </c:xVal>
          <c:y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78</c:v>
                </c:pt>
                <c:pt idx="6">
                  <c:v>0</c:v>
                </c:pt>
                <c:pt idx="7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b"/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X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Y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Q_hat_j</c:v>
                </c:pt>
              </c:strCache>
            </c:strRef>
          </c:tx>
          <c:spPr>
            <a:solidFill>
              <a:srgbClr val="2D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D_1</c:v>
                  </c:pt>
                  <c:pt idx="1">
                    <c:v>D_2</c:v>
                  </c:pt>
                  <c:pt idx="2">
                    <c:v>D_3</c:v>
                  </c:pt>
                  <c:pt idx="3">
                    <c:v>D_4</c:v>
                  </c:pt>
                  <c:pt idx="4">
                    <c:v>D_5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</c:v>
                </c:pt>
                <c:pt idx="1">
                  <c:v>0.45</c:v>
                </c:pt>
                <c:pt idx="2">
                  <c:v>0.43</c:v>
                </c:pt>
                <c:pt idx="3">
                  <c:v>0.38</c:v>
                </c:pt>
                <c:pt idx="4">
                  <c:v>0.44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 flip="none">
          <a:gsLst>
            <a:gs pos="0">
              <a:srgbClr val="2D3A5C"/>
            </a:gs>
            <a:gs pos="100000">
              <a:srgbClr val="1E2639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94000"/>
            <a:ext cx="2540000" cy="508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048000"/>
            <a:ext cx="1397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Data, Multiple Imputation</a:t>
            </a:r>
            <a:endParaRPr lang="en-US" sz="4000" dirty="0"/>
          </a:p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 Data Augmentation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43000" y="46990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欠測データ・多重代入・データ拡張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53340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B0B8C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Graduate Lecture in Statistical Methods / 統計手法大学院講義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78000" y="7112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A93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Missingness → Model → Imputation → Pooling → Reporting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B87333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目次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841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968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16000" y="2540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Goals, Notation, MCAR/MAR/MNAR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3302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統計分析の目標と欠測メカニズム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78500" y="1841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1" name="Text 9"/>
          <p:cNvSpPr/>
          <p:nvPr/>
        </p:nvSpPr>
        <p:spPr>
          <a:xfrm>
            <a:off x="6032500" y="1968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032500" y="2540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Cases, Pairwise, Mean Sub.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32500" y="3302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場当たり的手法とその限界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795000" y="1841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9000" y="1968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1049000" y="2540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FIML, EM Algorithm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049000" y="3302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現代的手法: FIML・EM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2000" y="4127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4254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016000" y="4826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Data Augmentation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Plausible Datasets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16000" y="5588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多重代入とデータ拡張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78500" y="4127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23" name="Text 21"/>
          <p:cNvSpPr/>
          <p:nvPr/>
        </p:nvSpPr>
        <p:spPr>
          <a:xfrm>
            <a:off x="6032500" y="4254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032500" y="4826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Variance, df, FMI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032500" y="5588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Rubinのルールとプーリング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795000" y="4127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27" name="Text 25"/>
          <p:cNvSpPr/>
          <p:nvPr/>
        </p:nvSpPr>
        <p:spPr>
          <a:xfrm>
            <a:off x="11049000" y="4254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1049000" y="4826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Topics &amp; Closing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Auxiliaries, Interactions, Summary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049000" y="5588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補助変数、交互作用、まとめ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2D3A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72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1016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B0B8C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Goals of Analysis, Notation &amp; Missingness Mechanisms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統計分析の目標、記号と欠測メカニズム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970000" y="0"/>
            <a:ext cx="2286000" cy="9144000"/>
          </a:xfrm>
          <a:prstGeom prst="rect">
            <a:avLst/>
          </a:prstGeom>
          <a:solidFill>
            <a:srgbClr val="252F47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/>
          <p:cNvSpPr/>
          <p:nvPr/>
        </p:nvSpPr>
        <p:spPr>
          <a:xfrm>
            <a:off x="254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Goals of Statistical Analysis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統計分析の目標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879600"/>
            <a:ext cx="4572000" cy="2540000"/>
          </a:xfrm>
          <a:prstGeom prst="roundRect">
            <a:avLst>
              <a:gd name="adj" fmla="val 6000"/>
            </a:avLst>
          </a:prstGeom>
          <a:solidFill>
            <a:srgbClr val="EDEAE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2057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15" name="Text 13"/>
          <p:cNvSpPr/>
          <p:nvPr/>
        </p:nvSpPr>
        <p:spPr>
          <a:xfrm>
            <a:off x="1549400" y="20574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Unbiased Estimation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16000" y="25400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不偏推定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16000" y="28956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 population parameter without systematic bias. The coefficient must be close to the true population value.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88000" y="1879600"/>
            <a:ext cx="4572000" cy="2540000"/>
          </a:xfrm>
          <a:prstGeom prst="roundRect">
            <a:avLst>
              <a:gd name="adj" fmla="val 6000"/>
            </a:avLst>
          </a:prstGeom>
          <a:solidFill>
            <a:srgbClr val="EDEAE4"/>
          </a:solidFill>
          <a:ln/>
        </p:spPr>
      </p:sp>
      <p:sp>
        <p:nvSpPr>
          <p:cNvPr id="19" name="Shape 17"/>
          <p:cNvSpPr/>
          <p:nvPr/>
        </p:nvSpPr>
        <p:spPr>
          <a:xfrm>
            <a:off x="5842000" y="2057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20" name="Text 18"/>
          <p:cNvSpPr/>
          <p:nvPr/>
        </p:nvSpPr>
        <p:spPr>
          <a:xfrm>
            <a:off x="6375400" y="20574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Error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842000" y="25400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標準誤差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42000" y="28956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Honest reflection of uncertainty in the estimate. Confidence intervals must be meaningful and valid.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414000" y="1879600"/>
            <a:ext cx="5080000" cy="2540000"/>
          </a:xfrm>
          <a:prstGeom prst="roundRect">
            <a:avLst>
              <a:gd name="adj" fmla="val 6000"/>
            </a:avLst>
          </a:prstGeom>
          <a:solidFill>
            <a:srgbClr val="EDEAE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68000" y="2057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7340" y="-7858"/>
                </a:moveTo>
                <a:cubicBezTo>
                  <a:pt x="318135" y="-1032"/>
                  <a:pt x="322126" y="11351"/>
                  <a:pt x="317228" y="22146"/>
                </a:cubicBezTo>
                <a:lnTo>
                  <a:pt x="246108" y="177800"/>
                </a:lnTo>
                <a:lnTo>
                  <a:pt x="377371" y="177800"/>
                </a:lnTo>
                <a:cubicBezTo>
                  <a:pt x="389618" y="177800"/>
                  <a:pt x="400504" y="184468"/>
                  <a:pt x="404676" y="194548"/>
                </a:cubicBezTo>
                <a:cubicBezTo>
                  <a:pt x="408849" y="204629"/>
                  <a:pt x="405311" y="215900"/>
                  <a:pt x="395968" y="222726"/>
                </a:cubicBezTo>
                <a:lnTo>
                  <a:pt x="134711" y="413226"/>
                </a:lnTo>
                <a:cubicBezTo>
                  <a:pt x="124460" y="420688"/>
                  <a:pt x="109855" y="421084"/>
                  <a:pt x="99060" y="414258"/>
                </a:cubicBezTo>
                <a:cubicBezTo>
                  <a:pt x="88265" y="407432"/>
                  <a:pt x="84274" y="395049"/>
                  <a:pt x="89172" y="384254"/>
                </a:cubicBezTo>
                <a:lnTo>
                  <a:pt x="160292" y="228600"/>
                </a:lnTo>
                <a:lnTo>
                  <a:pt x="29029" y="228600"/>
                </a:lnTo>
                <a:cubicBezTo>
                  <a:pt x="16782" y="228600"/>
                  <a:pt x="5896" y="221933"/>
                  <a:pt x="1724" y="211852"/>
                </a:cubicBezTo>
                <a:cubicBezTo>
                  <a:pt x="-2449" y="201771"/>
                  <a:pt x="1089" y="190500"/>
                  <a:pt x="10432" y="183674"/>
                </a:cubicBezTo>
                <a:lnTo>
                  <a:pt x="271689" y="-6826"/>
                </a:lnTo>
                <a:cubicBezTo>
                  <a:pt x="281940" y="-14288"/>
                  <a:pt x="296545" y="-14684"/>
                  <a:pt x="307340" y="-7858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25" name="Text 23"/>
          <p:cNvSpPr/>
          <p:nvPr/>
        </p:nvSpPr>
        <p:spPr>
          <a:xfrm>
            <a:off x="11201400" y="20574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Power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668000" y="2540000"/>
            <a:ext cx="457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検出力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668000" y="2895600"/>
            <a:ext cx="457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Preserve as much power as possible. Missing data can reduce power by shrinking effective sample size.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4699000"/>
            <a:ext cx="14732000" cy="1651000"/>
          </a:xfrm>
          <a:prstGeom prst="roundRect">
            <a:avLst>
              <a:gd name="adj" fmla="val 4000"/>
            </a:avLst>
          </a:prstGeom>
          <a:solidFill>
            <a:srgbClr val="E8EBF2"/>
          </a:solidFill>
          <a:ln/>
        </p:spPr>
      </p:sp>
      <p:sp>
        <p:nvSpPr>
          <p:cNvPr id="29" name="Shape 27"/>
          <p:cNvSpPr/>
          <p:nvPr/>
        </p:nvSpPr>
        <p:spPr>
          <a:xfrm>
            <a:off x="762000" y="4699000"/>
            <a:ext cx="63500" cy="16510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28"/>
              <p:cNvSpPr/>
              <p:nvPr/>
            </p:nvSpPr>
            <p:spPr>
              <a:xfrm>
                <a:off x="1079500" y="4826000"/>
                <a:ext cx="14097000" cy="139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Regression model: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β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β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</m:sSub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β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b>
                      </m:sSub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C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ε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Bias: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Bias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UppPr>
                            <m:e>
                              <m:r>
                                <a:rPr lang="en-US" sz="13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β</m:t>
                              </m:r>
                            </m:e>
                            <m:lim>
                              <m: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^</m:t>
                              </m:r>
                            </m:lim>
                          </m:limUpp>
                        </m:e>
                        <m:sub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E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UppPr>
                            <m:e>
                              <m:r>
                                <a:rPr lang="en-US" sz="13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β</m:t>
                              </m:r>
                            </m:e>
                            <m:lim>
                              <m: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^</m:t>
                              </m:r>
                            </m:lim>
                          </m:limUpp>
                        </m:e>
                        <m:sub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β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  </a:t>
                </a:r>
                <a:pPr algn="l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CI: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UppPr>
                            <m:e>
                              <m:r>
                                <a:rPr lang="en-US" sz="13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β</m:t>
                              </m:r>
                            </m:e>
                            <m:lim>
                              <m: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^</m:t>
                              </m:r>
                            </m:lim>
                          </m:limUpp>
                        </m:e>
                        <m:sub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±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1.96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⋅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SE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UppPr>
                            <m:e>
                              <m:r>
                                <a:rPr lang="en-US" sz="13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β</m:t>
                              </m:r>
                            </m:e>
                            <m:lim>
                              <m: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^</m:t>
                              </m:r>
                            </m:lim>
                          </m:limUpp>
                        </m:e>
                        <m:sub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0" name="Text 28"/>
              <p:cNvSpPr/>
              <p:nvPr/>
            </p:nvSpPr>
            <p:spPr>
              <a:xfrm>
                <a:off x="1079500" y="4826000"/>
                <a:ext cx="14097000" cy="139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Regression model: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 = \beta_0 + \beta_1 X + \beta_2 C + \varepsilon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Bias: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\text{Bias}(\hat{\beta}_1) = E(\hat{\beta}_1) - \beta_1 \)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  </a:t>
                </a:r>
                <a:pPr algn="l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CI: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\hat{\beta}_1 \pm 1.96 \cdot \text{SE}(\hat{\beta}_1) \)</a:t>
                </a:r>
                <a:endParaRPr lang="en-US" sz="1800" dirty="0"/>
              </a:p>
            </p:txBody>
          </p:sp>
        </mc:Fallback>
      </mc:AlternateContent>
      <p:sp>
        <p:nvSpPr>
          <p:cNvPr id="31" name="Shape 29"/>
          <p:cNvSpPr/>
          <p:nvPr/>
        </p:nvSpPr>
        <p:spPr>
          <a:xfrm>
            <a:off x="762000" y="6604000"/>
            <a:ext cx="14732000" cy="1397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1079500" y="6731000"/>
            <a:ext cx="1409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Principle: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missing-data method is good only if it helps estimate the population parameter without bias, gives a meaningful standard error, and preserves power. Missing data threatens all three pillars.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欠測データは、不偏性、標準誤差、検出力の3つすべてを脅かす。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/>
          <p:cNvSpPr/>
          <p:nvPr/>
        </p:nvSpPr>
        <p:spPr>
          <a:xfrm>
            <a:off x="254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270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Notation: Observed, Missing &amp; Response Indicator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記号: 観測値・欠測値・応答指標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854200"/>
            <a:ext cx="6858000" cy="3048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19812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Definitions / 主要な定義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16000" y="2413000"/>
            <a:ext cx="6350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R_Y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 if Y is observed; 0 if missing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応答指標: Yが観測されれば1、欠測なら0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D_obs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observed data / 観測データ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D_mis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missing data / 欠測データ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theta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model parameters / モデルパラメータ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74000" y="1854200"/>
            <a:ext cx="7620000" cy="3048000"/>
          </a:xfrm>
          <a:prstGeom prst="roundRect">
            <a:avLst>
              <a:gd name="adj" fmla="val 5000"/>
            </a:avLst>
          </a:prstGeom>
          <a:solidFill>
            <a:srgbClr val="E8EBF2"/>
          </a:solidFill>
          <a:ln/>
        </p:spPr>
      </p:sp>
      <p:sp>
        <p:nvSpPr>
          <p:cNvPr id="17" name="Shape 15"/>
          <p:cNvSpPr/>
          <p:nvPr/>
        </p:nvSpPr>
        <p:spPr>
          <a:xfrm>
            <a:off x="7874000" y="1854200"/>
            <a:ext cx="63500" cy="30480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16"/>
              <p:cNvSpPr/>
              <p:nvPr/>
            </p:nvSpPr>
            <p:spPr>
              <a:xfrm>
                <a:off x="8191500" y="2032000"/>
                <a:ext cx="7048500" cy="266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Complete data: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D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o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b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Observed-data inference: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p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θ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o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b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or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L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θ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o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b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Target parameter:</a:t>
                </a:r>
                <a:pPr algn="l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Q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推定対象となる母数</a:t>
                </a:r>
                <a:endParaRPr lang="en-US" sz="1800" dirty="0"/>
              </a:p>
            </p:txBody>
          </p:sp>
        </mc:Choice>
        <mc:Fallback xmlns="">
          <p:sp>
            <p:nvSpPr>
              <p:cNvPr id="18" name="Text 16"/>
              <p:cNvSpPr/>
              <p:nvPr/>
            </p:nvSpPr>
            <p:spPr>
              <a:xfrm>
                <a:off x="8191500" y="2032000"/>
                <a:ext cx="7048500" cy="266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Complete data: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D = (D_{obs}, D_{mis})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Observed-data inference: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p(\theta \mid D_{obs}) \)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or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L(\theta \mid D_{obs})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Target parameter:</a:t>
                </a:r>
                <a:pPr algn="l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Q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推定対象となる母数</a:t>
                </a:r>
                <a:endParaRPr lang="en-US" sz="1800" dirty="0"/>
              </a:p>
            </p:txBody>
          </p:sp>
        </mc:Fallback>
      </mc:AlternateContent>
      <p:sp>
        <p:nvSpPr>
          <p:cNvPr id="19" name="Text 17"/>
          <p:cNvSpPr/>
          <p:nvPr/>
        </p:nvSpPr>
        <p:spPr>
          <a:xfrm>
            <a:off x="762000" y="51562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Tiny Dataset Example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588000"/>
          <a:ext cx="8890000" cy="2667000"/>
        </p:xfrm>
        <a:graphic>
          <a:graphicData uri="http://schemas.openxmlformats.org/drawingml/2006/table">
            <a:tbl>
              <a:tblPr/>
              <a:tblGrid>
                <a:gridCol w="1333500"/>
                <a:gridCol w="1778000"/>
                <a:gridCol w="1778000"/>
                <a:gridCol w="1778000"/>
                <a:gridCol w="222250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Case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X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R_Y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Status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Observed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Observed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?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7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Missing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Observed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18"/>
              <p:cNvSpPr/>
              <p:nvPr/>
            </p:nvSpPr>
            <p:spPr>
              <a:xfrm>
                <a:off x="10033000" y="5588000"/>
                <a:ext cx="5461000" cy="266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6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Core idea: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Missingness itself is a variable that can be modeled. Modern methods use </a:t>
                </a:r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o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b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to make valid inferences about </a:t>
                </a:r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θ</m:t>
                      </m:r>
                    </m:oMath>
                  </m:oMathPara>
                </a14:m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and </a:t>
                </a:r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Q</m:t>
                      </m:r>
                    </m:oMath>
                  </m:oMathPara>
                </a14:m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.</a:t>
                </a:r>
                <a:endParaRPr lang="en-US" sz="1600" dirty="0"/>
              </a:p>
              <a:p>
                <a:pPr algn="l">
                  <a:lnSpc>
                    <a:spcPct val="160000"/>
                  </a:lnSpc>
                  <a:spcBef>
                    <a:spcPts val="800"/>
                  </a:spcBef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現代的手法は、観測データを使ってパラメータについての妥当な推論を行う。</a:t>
                </a:r>
                <a:endParaRPr lang="en-US" sz="1600" dirty="0"/>
              </a:p>
            </p:txBody>
          </p:sp>
        </mc:Choice>
        <mc:Fallback xmlns="">
          <p:sp>
            <p:nvSpPr>
              <p:cNvPr id="21" name="Text 18"/>
              <p:cNvSpPr/>
              <p:nvPr/>
            </p:nvSpPr>
            <p:spPr>
              <a:xfrm>
                <a:off x="10033000" y="5588000"/>
                <a:ext cx="5461000" cy="266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6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Core idea: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Missingness itself is a variable that can be modeled. Modern methods use 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D_{obs} \)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to make valid inferences about 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\theta \)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and 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Q \)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.</a:t>
                </a:r>
                <a:endParaRPr lang="en-US" sz="1600" dirty="0"/>
              </a:p>
              <a:p>
                <a:pPr algn="l">
                  <a:lnSpc>
                    <a:spcPct val="160000"/>
                  </a:lnSpc>
                  <a:spcBef>
                    <a:spcPts val="800"/>
                  </a:spcBef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現代的手法は、観測データを使ってパラメータについての妥当な推論を行う。</a:t>
                </a:r>
                <a:endParaRPr lang="en-US" sz="1600" dirty="0"/>
              </a:p>
            </p:txBody>
          </p:sp>
        </mc:Fallback>
      </mc:AlternateContent>
      <p:sp>
        <p:nvSpPr>
          <p:cNvPr id="22" name="Text 1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/>
          <p:cNvSpPr/>
          <p:nvPr/>
        </p:nvSpPr>
        <p:spPr>
          <a:xfrm>
            <a:off x="254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MCAR: Missing Completely at Random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完全にランダムな欠測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85420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Definition: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Missingness does not depend on observed or unobserved values. It is the strongest and cleanest assumption.</a:t>
            </a:r>
            <a:endParaRPr lang="en-US" sz="14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定義: 欠測は観測値にも欠測値にも依存しない。最も強い仮定。</a:t>
            </a:r>
            <a:endParaRPr lang="en-US" sz="14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questionnaires are randomly lost, complete cases are approximately a random subsample.</a:t>
            </a:r>
            <a:endParaRPr lang="en-US" sz="14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Caution:</a:t>
            </a:r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MCAR is mathematically convenient but </a:t>
            </a:r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rare</a:t>
            </a:r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practice. Do not casually assume it.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2000" y="4318000"/>
            <a:ext cx="6858000" cy="1778000"/>
          </a:xfrm>
          <a:prstGeom prst="roundRect">
            <a:avLst>
              <a:gd name="adj" fmla="val 5000"/>
            </a:avLst>
          </a:prstGeom>
          <a:solidFill>
            <a:srgbClr val="E8EB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4318000"/>
            <a:ext cx="63500" cy="17780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079500" y="4445000"/>
                <a:ext cx="6286500" cy="15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P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R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C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P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R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Under MCAR: </a:t>
                </a:r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E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R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E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6" name="Text 14"/>
              <p:cNvSpPr/>
              <p:nvPr/>
            </p:nvSpPr>
            <p:spPr>
              <a:xfrm>
                <a:off x="1079500" y="4445000"/>
                <a:ext cx="6286500" cy="15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P(R_Y = 1 \mid Y, X, C) = P(R_Y = 1)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Under MCAR: </a:t>
                </a:r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E(Y \mid R_Y = 1) = E(Y) \)</a:t>
                </a:r>
                <a:endParaRPr lang="en-US" sz="1800" dirty="0"/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7874000" y="1854200"/>
            <a:ext cx="7620000" cy="42418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Text 16"/>
          <p:cNvSpPr/>
          <p:nvPr/>
        </p:nvSpPr>
        <p:spPr>
          <a:xfrm>
            <a:off x="8128000" y="1981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MCAR Intuition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36000" y="2540000"/>
            <a:ext cx="304800" cy="304800"/>
          </a:xfrm>
          <a:prstGeom prst="ellipse">
            <a:avLst/>
          </a:prstGeom>
          <a:solidFill>
            <a:srgbClr val="2D3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9398000" y="2794000"/>
            <a:ext cx="304800" cy="304800"/>
          </a:xfrm>
          <a:prstGeom prst="ellipse">
            <a:avLst/>
          </a:prstGeom>
          <a:solidFill>
            <a:srgbClr val="2D3A5C"/>
          </a:solidFill>
          <a:ln/>
        </p:spPr>
      </p:sp>
      <p:sp>
        <p:nvSpPr>
          <p:cNvPr id="21" name="Shape 19"/>
          <p:cNvSpPr/>
          <p:nvPr/>
        </p:nvSpPr>
        <p:spPr>
          <a:xfrm>
            <a:off x="9017000" y="3302000"/>
            <a:ext cx="304800" cy="304800"/>
          </a:xfrm>
          <a:prstGeom prst="ellipse">
            <a:avLst/>
          </a:prstGeom>
          <a:solidFill>
            <a:srgbClr val="2D3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9906000" y="3175000"/>
            <a:ext cx="304800" cy="304800"/>
          </a:xfrm>
          <a:prstGeom prst="ellipse">
            <a:avLst/>
          </a:prstGeom>
          <a:solidFill>
            <a:srgbClr val="2D3A5C"/>
          </a:solidFill>
          <a:ln/>
        </p:spPr>
      </p:sp>
      <p:sp>
        <p:nvSpPr>
          <p:cNvPr id="23" name="Shape 21"/>
          <p:cNvSpPr/>
          <p:nvPr/>
        </p:nvSpPr>
        <p:spPr>
          <a:xfrm>
            <a:off x="8382000" y="3556000"/>
            <a:ext cx="304800" cy="304800"/>
          </a:xfrm>
          <a:prstGeom prst="ellipse">
            <a:avLst/>
          </a:prstGeom>
          <a:solidFill>
            <a:srgbClr val="2D3A5C"/>
          </a:solidFill>
          <a:ln/>
        </p:spPr>
      </p:sp>
      <p:sp>
        <p:nvSpPr>
          <p:cNvPr id="24" name="Shape 22"/>
          <p:cNvSpPr/>
          <p:nvPr/>
        </p:nvSpPr>
        <p:spPr>
          <a:xfrm>
            <a:off x="9525000" y="3683000"/>
            <a:ext cx="304800" cy="304800"/>
          </a:xfrm>
          <a:prstGeom prst="ellipse">
            <a:avLst/>
          </a:prstGeom>
          <a:solidFill>
            <a:srgbClr val="2D3A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14000" y="3556000"/>
            <a:ext cx="304800" cy="304800"/>
          </a:xfrm>
          <a:prstGeom prst="ellipse">
            <a:avLst/>
          </a:prstGeom>
          <a:solidFill>
            <a:srgbClr val="2D3A5C"/>
          </a:solidFill>
          <a:ln/>
        </p:spPr>
      </p:sp>
      <p:sp>
        <p:nvSpPr>
          <p:cNvPr id="26" name="Shape 24"/>
          <p:cNvSpPr/>
          <p:nvPr/>
        </p:nvSpPr>
        <p:spPr>
          <a:xfrm>
            <a:off x="8890000" y="4064000"/>
            <a:ext cx="304800" cy="304800"/>
          </a:xfrm>
          <a:prstGeom prst="ellipse">
            <a:avLst/>
          </a:prstGeom>
          <a:solidFill>
            <a:srgbClr val="2D3A5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33000" y="4064000"/>
            <a:ext cx="304800" cy="304800"/>
          </a:xfrm>
          <a:prstGeom prst="ellipse">
            <a:avLst/>
          </a:prstGeom>
          <a:solidFill>
            <a:srgbClr val="2D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10922000" y="2540000"/>
            <a:ext cx="431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Original data cloud — points removed by random coin flip.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元のデータからランダムに点が除去される。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Remaining points still represent the original distribution.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79000" y="25400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×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636000" y="31750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×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477500" y="43815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×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62000" y="63500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1079500" y="64770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Presenter line: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"MCAR means the missingness mechanism carries no information. That is a very strong statement."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「MCARとは、欠測メカニズムが何の情報も持たないことを意味する。非常に強い主張だ。」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/>
          <p:cNvSpPr/>
          <p:nvPr/>
        </p:nvSpPr>
        <p:spPr>
          <a:xfrm>
            <a:off x="254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MAR: Missing at Random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観測情報で説明できる欠測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854200"/>
            <a:ext cx="6858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Definition: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Missingness may be systematic, but the systematic part is explained by </a:t>
            </a:r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observed variables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4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定義: 欠測が系統的でも、その系統的な部分が観測変数で説明できる。</a:t>
            </a:r>
            <a:endParaRPr lang="en-US" sz="14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Students with low pretest scores may miss a posttest. If pretest is observed and included in the model, missingness is handled under MAR.</a:t>
            </a:r>
            <a:endParaRPr lang="en-US" sz="14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Key:</a:t>
            </a:r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Conditional independence — once we condition on observed variables, missingness no longer depends on unobserved 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2000" y="4508500"/>
            <a:ext cx="6858000" cy="1587500"/>
          </a:xfrm>
          <a:prstGeom prst="roundRect">
            <a:avLst>
              <a:gd name="adj" fmla="val 5000"/>
            </a:avLst>
          </a:prstGeom>
          <a:solidFill>
            <a:srgbClr val="E8EB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4508500"/>
            <a:ext cx="63500" cy="15875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079500" y="4635500"/>
                <a:ext cx="6286500" cy="1333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P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R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C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P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R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C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After conditioning on observed </a:t>
                </a:r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C</m:t>
                      </m:r>
                    </m:oMath>
                  </m:oMathPara>
                </a14:m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, missingness no longer depends on unobserved </a:t>
                </a:r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</m:oMath>
                  </m:oMathPara>
                </a14:m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.</a:t>
                </a:r>
                <a:endParaRPr lang="en-US" sz="1800" dirty="0"/>
              </a:p>
            </p:txBody>
          </p:sp>
        </mc:Choice>
        <mc:Fallback xmlns="">
          <p:sp>
            <p:nvSpPr>
              <p:cNvPr id="16" name="Text 14"/>
              <p:cNvSpPr/>
              <p:nvPr/>
            </p:nvSpPr>
            <p:spPr>
              <a:xfrm>
                <a:off x="1079500" y="4635500"/>
                <a:ext cx="6286500" cy="1333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P(R_Y = 1 \mid Y, X, C) = P(R_Y = 1 \mid X, C)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After conditioning on observed </a:t>
                </a:r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X, C \)</a:t>
                </a:r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, missingness no longer depends on unobserved </a:t>
                </a:r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 \)</a:t>
                </a:r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.</a:t>
                </a:r>
                <a:endParaRPr lang="en-US" sz="1800" dirty="0"/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7874000" y="1854200"/>
            <a:ext cx="7620000" cy="40513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Text 16"/>
          <p:cNvSpPr/>
          <p:nvPr/>
        </p:nvSpPr>
        <p:spPr>
          <a:xfrm>
            <a:off x="8128000" y="1981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 Causal Sketch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36000" y="2667000"/>
            <a:ext cx="1016000" cy="558800"/>
          </a:xfrm>
          <a:prstGeom prst="roundRect">
            <a:avLst>
              <a:gd name="adj" fmla="val 12000"/>
            </a:avLst>
          </a:prstGeom>
          <a:solidFill>
            <a:srgbClr val="4A7C59"/>
          </a:solidFill>
          <a:ln/>
        </p:spPr>
      </p:sp>
      <p:sp>
        <p:nvSpPr>
          <p:cNvPr id="20" name="Text 18"/>
          <p:cNvSpPr/>
          <p:nvPr/>
        </p:nvSpPr>
        <p:spPr>
          <a:xfrm>
            <a:off x="8636000" y="2667000"/>
            <a:ext cx="101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52000" y="2857500"/>
            <a:ext cx="1270000" cy="508000"/>
          </a:xfrm>
          <a:prstGeom prst="straightConnector1">
            <a:avLst/>
          </a:prstGeom>
          <a:noFill/>
          <a:ln w="25400">
            <a:solidFill>
              <a:srgbClr val="1E2330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0922000" y="2921000"/>
            <a:ext cx="1016000" cy="558800"/>
          </a:xfrm>
          <a:prstGeom prst="roundRect">
            <a:avLst>
              <a:gd name="adj" fmla="val 12000"/>
            </a:avLst>
          </a:prstGeom>
          <a:solidFill>
            <a:srgbClr val="B87333"/>
          </a:solidFill>
          <a:ln/>
        </p:spPr>
      </p:sp>
      <p:sp>
        <p:nvSpPr>
          <p:cNvPr id="23" name="Text 21"/>
          <p:cNvSpPr/>
          <p:nvPr/>
        </p:nvSpPr>
        <p:spPr>
          <a:xfrm>
            <a:off x="10922000" y="2921000"/>
            <a:ext cx="101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R_Y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017000" y="3225800"/>
            <a:ext cx="762000" cy="762000"/>
          </a:xfrm>
          <a:prstGeom prst="straightConnector1">
            <a:avLst/>
          </a:prstGeom>
          <a:noFill/>
          <a:ln w="25400">
            <a:solidFill>
              <a:srgbClr val="1E2330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8636000" y="3987800"/>
            <a:ext cx="1016000" cy="558800"/>
          </a:xfrm>
          <a:prstGeom prst="roundRect">
            <a:avLst>
              <a:gd name="adj" fmla="val 12000"/>
            </a:avLst>
          </a:prstGeom>
          <a:solidFill>
            <a:srgbClr val="2D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8636000" y="3987800"/>
            <a:ext cx="101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28000" y="4826000"/>
            <a:ext cx="7112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 = observed covariate (観測された共変量)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R_Y = response indicator (応答指標)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= outcome (結果変数)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2000" y="61595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1079500" y="62865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Japanese practical phrase: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"観測された情報で欠測の理由を説明できるなら、MARとして扱える可能性があります。"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observed information can explain the reason for missingness, it may be treated as MAR.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/>
          <p:cNvSpPr/>
          <p:nvPr/>
        </p:nvSpPr>
        <p:spPr>
          <a:xfrm>
            <a:off x="254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MNAR: Missing Not at Random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欠測値自体に依存する欠測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854200"/>
            <a:ext cx="685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Definition: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missing value itself affects the chance of being missing, even after using observed variables.</a:t>
            </a:r>
            <a:endParaRPr lang="en-US" sz="14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定義: 欠測値自体が欠測の確率に影響する。</a:t>
            </a:r>
            <a:endParaRPr lang="en-US" sz="14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People with very high alcohol consumption refuse to answer because their use is high. The unseen Y still drives R_Y.</a:t>
            </a:r>
            <a:endParaRPr lang="en-US" sz="14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Warning:</a:t>
            </a:r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Standard MI, EM, FIML under MAR may be biased. MNAR requires sensitivity analysis or explicit missingness models.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2000" y="4699000"/>
            <a:ext cx="6858000" cy="1714500"/>
          </a:xfrm>
          <a:prstGeom prst="roundRect">
            <a:avLst>
              <a:gd name="adj" fmla="val 5000"/>
            </a:avLst>
          </a:prstGeom>
          <a:solidFill>
            <a:srgbClr val="E8EB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4699000"/>
            <a:ext cx="63500" cy="17145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079500" y="4826000"/>
                <a:ext cx="6286500" cy="146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P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R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depends on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even after conditioning on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MAR fails: </a:t>
                </a:r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P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R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≠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P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R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6" name="Text 14"/>
              <p:cNvSpPr/>
              <p:nvPr/>
            </p:nvSpPr>
            <p:spPr>
              <a:xfrm>
                <a:off x="1079500" y="4826000"/>
                <a:ext cx="6286500" cy="146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P(R_Y = 1 \mid Y, X) \)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depends on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 \)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even after conditioning on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X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MAR fails: </a:t>
                </a:r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P(R_Y \mid Y, X) \neq P(R_Y \mid X) \)</a:t>
                </a:r>
                <a:endParaRPr lang="en-US" sz="1800" dirty="0"/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7874000" y="1854200"/>
            <a:ext cx="7620000" cy="43688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Text 16"/>
          <p:cNvSpPr/>
          <p:nvPr/>
        </p:nvSpPr>
        <p:spPr>
          <a:xfrm>
            <a:off x="8128000" y="1981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MNAR: The Difficult Case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36000" y="2667000"/>
            <a:ext cx="1016000" cy="558800"/>
          </a:xfrm>
          <a:prstGeom prst="roundRect">
            <a:avLst>
              <a:gd name="adj" fmla="val 12000"/>
            </a:avLst>
          </a:prstGeom>
          <a:solidFill>
            <a:srgbClr val="2D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8636000" y="2667000"/>
            <a:ext cx="101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52000" y="2794000"/>
            <a:ext cx="1270000" cy="381000"/>
          </a:xfrm>
          <a:prstGeom prst="straightConnector1">
            <a:avLst/>
          </a:prstGeom>
          <a:noFill/>
          <a:ln w="38100">
            <a:solidFill>
              <a:srgbClr val="C0392B"/>
            </a:solidFill>
            <a:prstDash val="dash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0922000" y="2667000"/>
            <a:ext cx="1016000" cy="558800"/>
          </a:xfrm>
          <a:prstGeom prst="roundRect">
            <a:avLst>
              <a:gd name="adj" fmla="val 12000"/>
            </a:avLst>
          </a:prstGeom>
          <a:solidFill>
            <a:srgbClr val="B87333"/>
          </a:solidFill>
          <a:ln/>
        </p:spPr>
      </p:sp>
      <p:sp>
        <p:nvSpPr>
          <p:cNvPr id="23" name="Text 21"/>
          <p:cNvSpPr/>
          <p:nvPr/>
        </p:nvSpPr>
        <p:spPr>
          <a:xfrm>
            <a:off x="10922000" y="2667000"/>
            <a:ext cx="101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R_Y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36000" y="3810000"/>
            <a:ext cx="1016000" cy="558800"/>
          </a:xfrm>
          <a:prstGeom prst="roundRect">
            <a:avLst>
              <a:gd name="adj" fmla="val 12000"/>
            </a:avLst>
          </a:prstGeom>
          <a:solidFill>
            <a:srgbClr val="4A7C59"/>
          </a:solidFill>
          <a:ln/>
        </p:spPr>
      </p:sp>
      <p:sp>
        <p:nvSpPr>
          <p:cNvPr id="25" name="Text 23"/>
          <p:cNvSpPr/>
          <p:nvPr/>
        </p:nvSpPr>
        <p:spPr>
          <a:xfrm>
            <a:off x="8636000" y="3810000"/>
            <a:ext cx="101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52000" y="3302000"/>
            <a:ext cx="762000" cy="508000"/>
          </a:xfrm>
          <a:prstGeom prst="straightConnector1">
            <a:avLst/>
          </a:prstGeom>
          <a:noFill/>
          <a:ln w="25400">
            <a:solidFill>
              <a:srgbClr val="1E2330"/>
            </a:solidFill>
            <a:prstDash val="solid"/>
            <a:headEnd type="none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12192000" y="2667000"/>
            <a:ext cx="3048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Problematic path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28000" y="4572000"/>
            <a:ext cx="711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---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 dashed arrow: unobserved Y directly affects missingness. This is the MNAR problem.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赤い破線: 観測されていないYが欠測に直接影響。これがMNARの問題。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algorithm can discover this from observed data alone without assumptions.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2000" y="64770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1079500" y="65786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"MNAR is where the missingness is telling us something that the observed data cannot fully tell us."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感度分析 (sensitivity analysis) が必要。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72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1016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B0B8C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Ad Hoc Family &amp; Why They Fail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場当たり的手法とその限界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970000" y="0"/>
            <a:ext cx="2286000" cy="9144000"/>
          </a:xfrm>
          <a:prstGeom prst="rect">
            <a:avLst/>
          </a:prstGeom>
          <a:solidFill>
            <a:srgbClr val="252F47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Methods: The Ad Hoc Family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古い方法: 場当たり的手法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854200"/>
            <a:ext cx="7112000" cy="1524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854200"/>
            <a:ext cx="63500" cy="1524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1955800"/>
            <a:ext cx="6667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Complete-Case Analysis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完全ケース分析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Throws away rows with any missing value.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Loses power, may bias estimates.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0" y="1854200"/>
            <a:ext cx="7366000" cy="1524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8000" y="1854200"/>
            <a:ext cx="63500" cy="1524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8382000" y="1955800"/>
            <a:ext cx="6921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Pairwise Deletion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ペアワイズ削除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subsamples for each covariance.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Non-positive-definite matrices.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3606800"/>
            <a:ext cx="7112000" cy="1524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3606800"/>
            <a:ext cx="63500" cy="1524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3708400"/>
            <a:ext cx="6667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Substitution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平均値代入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Fills blanks with the observed mean.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Shrinks variance, distorts correlations.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28000" y="3606800"/>
            <a:ext cx="7366000" cy="1524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23" name="Shape 21"/>
          <p:cNvSpPr/>
          <p:nvPr/>
        </p:nvSpPr>
        <p:spPr>
          <a:xfrm>
            <a:off x="8128000" y="3606800"/>
            <a:ext cx="63500" cy="15240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0" y="3708400"/>
            <a:ext cx="6921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 Single Imputation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回帰による単一代入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Predicts missing values from regression.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spirit, but underestimates SE.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384800"/>
            <a:ext cx="14732000" cy="1841500"/>
          </a:xfrm>
          <a:prstGeom prst="roundRect">
            <a:avLst>
              <a:gd name="adj" fmla="val 4000"/>
            </a:avLst>
          </a:prstGeom>
          <a:solidFill>
            <a:srgbClr val="E8EBF2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5384800"/>
            <a:ext cx="63500" cy="18415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25"/>
              <p:cNvSpPr/>
              <p:nvPr/>
            </p:nvSpPr>
            <p:spPr>
              <a:xfrm>
                <a:off x="1079500" y="5511800"/>
                <a:ext cx="14097000" cy="1587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60000"/>
                  </a:lnSpc>
                </a:pPr>
                <a:r>
                  <a:rPr lang="en-US" sz="16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Common lesson: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Older methods are shortcuts to get past missing values. They do not model the uncertainty created by missingness. They lack a general theory for preserving both estimates and uncertainty.</a:t>
                </a:r>
                <a:endParaRPr lang="en-US" sz="1600" dirty="0"/>
              </a:p>
              <a:p>
                <a:pPr algn="l">
                  <a:lnSpc>
                    <a:spcPct val="16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Old methods violate: valid </m:t>
                      </m:r>
                      <m:limUpp>
                        <m:limUppPr>
                          <m:ctrlPr>
                            <a:rPr lang="en-US" sz="16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6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Q</m:t>
                          </m:r>
                        </m:e>
                        <m:lim>
                          <m:r>
                            <a:rPr lang="en-US" sz="16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^</m:t>
                          </m:r>
                        </m:lim>
                      </m:limUpp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 valid SE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limUpp>
                        <m:limUppPr>
                          <m:ctrlPr>
                            <a:rPr lang="en-US" sz="16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6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Q</m:t>
                          </m:r>
                        </m:e>
                        <m:lim>
                          <m:r>
                            <a:rPr lang="en-US" sz="16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^</m:t>
                          </m:r>
                        </m:lim>
                      </m:limUpp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古い方法は、不確実性をモデル化せず、推定値と標準誤差の両方を保存する一般的な理論を欠いている。</a:t>
                </a:r>
                <a:endParaRPr lang="en-US" sz="1600" dirty="0"/>
              </a:p>
            </p:txBody>
          </p:sp>
        </mc:Choice>
        <mc:Fallback xmlns="">
          <p:sp>
            <p:nvSpPr>
              <p:cNvPr id="27" name="Text 25"/>
              <p:cNvSpPr/>
              <p:nvPr/>
            </p:nvSpPr>
            <p:spPr>
              <a:xfrm>
                <a:off x="1079500" y="5511800"/>
                <a:ext cx="14097000" cy="1587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60000"/>
                  </a:lnSpc>
                </a:pPr>
                <a:r>
                  <a:rPr lang="en-US" sz="16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Common lesson: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Older methods are shortcuts to get past missing values. They do not model the uncertainty created by missingness. They lack a general theory for preserving both estimates and uncertainty.</a:t>
                </a:r>
                <a:endParaRPr lang="en-US" sz="1600" dirty="0"/>
              </a:p>
              <a:p>
                <a:pPr algn="l"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\text{Old methods violate: valid } \hat{Q} + \text{ valid SE}(\hat{Q}) \)</a:t>
                </a:r>
                <a:endParaRPr lang="en-US" sz="16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古い方法は、不確実性をモデル化せず、推定値と標準誤差の両方を保存する一般的な理論を欠いている。</a:t>
                </a:r>
                <a:endParaRPr lang="en-US" sz="1600" dirty="0"/>
              </a:p>
            </p:txBody>
          </p:sp>
        </mc:Fallback>
      </mc:AlternateContent>
      <p:sp>
        <p:nvSpPr>
          <p:cNvPr id="28" name="Text 2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Complete-Case (Listwise) Deletion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完全ケース分析（リストワイズ削除）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854200"/>
            <a:ext cx="711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Keeps only cases with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missing values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any variable. Simple and transparent, but can waste enormous information.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いずれの変数にも欠測がないケースのみを保持。情報の大量損失。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MCAR, remaining cases may represent the original sample. Under MAR/MNAR, complete cases often differ systematically.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191000"/>
            <a:ext cx="7112000" cy="1968500"/>
          </a:xfrm>
          <a:prstGeom prst="roundRect">
            <a:avLst>
              <a:gd name="adj" fmla="val 5000"/>
            </a:avLst>
          </a:prstGeom>
          <a:solidFill>
            <a:srgbClr val="E8EB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4191000"/>
            <a:ext cx="63500" cy="19685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079500" y="4318000"/>
                <a:ext cx="6540500" cy="1714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If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p</m:t>
                      </m:r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variables each have 10% missing: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P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complete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0.9</m:t>
                          </m:r>
                        </m:e>
                        <m:sup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With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p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10</m:t>
                      </m:r>
                    </m:oMath>
                  </m:oMathPara>
                </a14:m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: only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0.9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10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≈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0.349</m:t>
                      </m:r>
                    </m:oMath>
                  </m:oMathPara>
                </a14:m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of cases remain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SE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C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C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/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SE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f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l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l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≈</m:t>
                      </m:r>
                      <m:rad>
                        <m:deg/>
                        <m:e>
                          <m:sSub>
                            <m:sSubPr>
                              <m:ctrlPr>
                                <a:rPr lang="en-US" sz="9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9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9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f</m:t>
                              </m:r>
                              <m:r>
                                <a:rPr lang="en-US" sz="9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u</m:t>
                              </m:r>
                              <m:r>
                                <a:rPr lang="en-US" sz="9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l</m:t>
                              </m:r>
                              <m:r>
                                <a:rPr lang="en-US" sz="9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l</m:t>
                              </m:r>
                            </m:sub>
                          </m:sSub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sz="9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9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9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C</m:t>
                              </m:r>
                              <m:r>
                                <a:rPr lang="en-US" sz="9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C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6" name="Text 14"/>
              <p:cNvSpPr/>
              <p:nvPr/>
            </p:nvSpPr>
            <p:spPr>
              <a:xfrm>
                <a:off x="1079500" y="4318000"/>
                <a:ext cx="6540500" cy="1714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If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 \)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variables each have 10% missing: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P(\text{complete}) = 0.9^p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With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p=10 \)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: only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\( 0.9^{10} \approx 0.349 \)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of cases remain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\text{SE}_{CC} / \text{SE}_{full} \approx \sqrt{N_{full} / N_{CC}} \)</a:t>
                </a:r>
                <a:endParaRPr lang="en-US" sz="1800" dirty="0"/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8128000" y="1854200"/>
            <a:ext cx="7366000" cy="41148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Text 16"/>
          <p:cNvSpPr/>
          <p:nvPr/>
        </p:nvSpPr>
        <p:spPr>
          <a:xfrm>
            <a:off x="8382000" y="19812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Matrix: Rows Deleted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2489200"/>
          <a:ext cx="6858000" cy="30480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109728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Case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V3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V6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Keep?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4A7C5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?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?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?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?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4A7C5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762000" y="62230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21" name="Text 18"/>
          <p:cNvSpPr/>
          <p:nvPr/>
        </p:nvSpPr>
        <p:spPr>
          <a:xfrm>
            <a:off x="1079500" y="63246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Killer intuition: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10 variables each 10% missing, only about 35% of cases remain. One missing cell removes the entire person.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10変数それぞれ10%欠測なら、約35%のケースしか残らない。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Pairwise Deletion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ペアワイズ削除: 共分散ごとに異なる標本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85420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covariance or correlation uses all cases with that particular pair observed. Sounds efficient, but creates serious problems.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共分散ごとに異なる標本を使用。効率的に聞こえるが重大な問題を生む。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covariance matrix is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stitched together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different subsamples. It may not correspond to any real joint dataset.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318000"/>
            <a:ext cx="6858000" cy="1651000"/>
          </a:xfrm>
          <a:prstGeom prst="roundRect">
            <a:avLst>
              <a:gd name="adj" fmla="val 5000"/>
            </a:avLst>
          </a:prstGeom>
          <a:solidFill>
            <a:srgbClr val="E8EB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4318000"/>
            <a:ext cx="63500" cy="16510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079500" y="4445000"/>
                <a:ext cx="6286500" cy="139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S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[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k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]</m:t>
                      </m:r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, where each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may use different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N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N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X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≠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N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X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Z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≠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N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 valid covariance matrix should be positive semi-definite.</a:t>
                </a:r>
                <a:endParaRPr lang="en-US" sz="1800" dirty="0"/>
              </a:p>
            </p:txBody>
          </p:sp>
        </mc:Choice>
        <mc:Fallback xmlns="">
          <p:sp>
            <p:nvSpPr>
              <p:cNvPr id="16" name="Text 14"/>
              <p:cNvSpPr/>
              <p:nvPr/>
            </p:nvSpPr>
            <p:spPr>
              <a:xfrm>
                <a:off x="1079500" y="4445000"/>
                <a:ext cx="6286500" cy="139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S = [s_{jk}] \)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, where each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s_{jk} \)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may use different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N_{jk}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N_{XY} \neq N_{XZ} \neq N_{YZ}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 valid covariance matrix should be positive semi-definite.</a:t>
                </a:r>
                <a:endParaRPr lang="en-US" sz="1800" dirty="0"/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7874000" y="1854200"/>
            <a:ext cx="7620000" cy="41148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Text 16"/>
          <p:cNvSpPr/>
          <p:nvPr/>
        </p:nvSpPr>
        <p:spPr>
          <a:xfrm>
            <a:off x="8128000" y="1981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Covariance Matrix with Different N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0" y="2489200"/>
          <a:ext cx="7112000" cy="2540000"/>
        </p:xfrm>
        <a:graphic>
          <a:graphicData uri="http://schemas.openxmlformats.org/drawingml/2006/table">
            <a:tbl>
              <a:tblPr/>
              <a:tblGrid>
                <a:gridCol w="1422400"/>
                <a:gridCol w="1422400"/>
                <a:gridCol w="1422400"/>
                <a:gridCol w="1422400"/>
                <a:gridCol w="1422400"/>
              </a:tblGrid>
              <a:tr h="50800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X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Z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 used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X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0.45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87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N=280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0.45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87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N=195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Z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87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N=220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87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280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87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195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B87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220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8128000" y="52070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cell may use a different sample size. The matrix may not be positive-definite, causing multivariate procedures to fail.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62000" y="62230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22" name="Text 19"/>
          <p:cNvSpPr/>
          <p:nvPr/>
        </p:nvSpPr>
        <p:spPr>
          <a:xfrm>
            <a:off x="1079500" y="63246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"Positive definite" means the matrix describes a possible cloud of data. Pairwise deletion may produce a mathematically impossible cloud.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Substitution: Why It Is the Worst Shortcut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平均値代入: なぜ危険か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854200"/>
            <a:ext cx="6858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Replaces every missing value with the observed mean. Creates values with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deviation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the mean.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欠測値を観測平均で置換。平均からの偏差がゼロになる。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Artificially shrinks variance. Covariances and correlations are distorted. The dataset looks complete, but SEs are not honest.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191000"/>
            <a:ext cx="6858000" cy="1714500"/>
          </a:xfrm>
          <a:prstGeom prst="roundRect">
            <a:avLst>
              <a:gd name="adj" fmla="val 5000"/>
            </a:avLst>
          </a:prstGeom>
          <a:solidFill>
            <a:srgbClr val="E8EB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4191000"/>
            <a:ext cx="63500" cy="17145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079500" y="4318000"/>
                <a:ext cx="6286500" cy="146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: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UppPr>
                            <m:e>
                              <m:r>
                                <a:rPr lang="en-US" sz="13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Y</m:t>
                              </m:r>
                            </m:e>
                            <m:lim>
                              <m: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ˉ</m:t>
                              </m:r>
                            </m:lim>
                          </m:limUpp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o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b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For imputed cases: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limUpp>
                        <m:limUppPr>
                          <m:ctrlP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8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lim>
                          <m: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ˉ</m:t>
                          </m:r>
                        </m:lim>
                      </m:limUp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Var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a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f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t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e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r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&lt;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Var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t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r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e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6" name="Text 14"/>
              <p:cNvSpPr/>
              <p:nvPr/>
            </p:nvSpPr>
            <p:spPr>
              <a:xfrm>
                <a:off x="1079500" y="4318000"/>
                <a:ext cx="6286500" cy="146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Y_{mis} := \bar{Y}_{obs}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For imputed cases: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Y_i - \bar{Y} = 0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\text{Var}(Y_{after}) &lt; \text{Var}(Y_{true}) \)</a:t>
                </a:r>
                <a:endParaRPr lang="en-US" sz="1800" dirty="0"/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7874000" y="1854200"/>
            <a:ext cx="7620000" cy="38608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Text 16"/>
          <p:cNvSpPr/>
          <p:nvPr/>
        </p:nvSpPr>
        <p:spPr>
          <a:xfrm>
            <a:off x="8128000" y="1981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vs. After Mean Substitution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28000" y="24384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Original Distribution</a:t>
            </a:r>
            <a:endParaRPr lang="en-US" sz="14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128000" y="2794000"/>
          <a:ext cx="3302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11684000" y="24384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Mean Substitution</a:t>
            </a:r>
            <a:endParaRPr lang="en-US" sz="140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11684000" y="2794000"/>
          <a:ext cx="3556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/>
          <p:nvPr/>
        </p:nvSpPr>
        <p:spPr>
          <a:xfrm>
            <a:off x="11684000" y="5143500"/>
            <a:ext cx="355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↑ Artificial spike at the mean!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平均値に不自然なピーク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62000" y="59690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25" name="Text 21"/>
          <p:cNvSpPr/>
          <p:nvPr/>
        </p:nvSpPr>
        <p:spPr>
          <a:xfrm>
            <a:off x="1079500" y="60706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"Mean substitution makes the data look more certain than they are."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平均値代入は、データを実際よりも確実に見せる。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Regression-Based Single Imputation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回帰による単一代入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854200"/>
            <a:ext cx="6858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smarter shortcut: fit regression on observed cases, predict missing Y. Uses individual information — much better than mean substitution.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観測ケースで回帰を当てはめ、欠測Yを予測。個人情報を活用。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Fatal flaw: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deterministic imputation gives exactly the predicted value. Residual variance is underestimated.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191000"/>
            <a:ext cx="6858000" cy="1651000"/>
          </a:xfrm>
          <a:prstGeom prst="roundRect">
            <a:avLst>
              <a:gd name="adj" fmla="val 5000"/>
            </a:avLst>
          </a:prstGeom>
          <a:solidFill>
            <a:srgbClr val="E8EB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4191000"/>
            <a:ext cx="63500" cy="16510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079500" y="4318000"/>
                <a:ext cx="6286500" cy="139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8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lim>
                          <m: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^</m:t>
                          </m:r>
                        </m:lim>
                      </m:limUp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b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b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X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…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b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p</m:t>
                          </m:r>
                        </m:sub>
                      </m:sSub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X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Single imputation: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: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limUpp>
                        <m:limUppPr>
                          <m:ctrlP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8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lim>
                          <m: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^</m:t>
                          </m:r>
                        </m:lim>
                      </m:limUpp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For imputed cases: residual =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limUpp>
                        <m:limUppPr>
                          <m:ctrlP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8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lim>
                          <m: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^</m:t>
                          </m:r>
                        </m:lim>
                      </m:limUp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6" name="Text 14"/>
              <p:cNvSpPr/>
              <p:nvPr/>
            </p:nvSpPr>
            <p:spPr>
              <a:xfrm>
                <a:off x="1079500" y="4318000"/>
                <a:ext cx="6286500" cy="139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\hat{Y} = b_0 + b_1 X_1 + \ldots + b_p X_p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Single imputation: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Y_{mis} := \hat{Y}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For imputed cases: residual =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Y_{mis} - \hat{Y} = 0 \)</a:t>
                </a:r>
                <a:endParaRPr lang="en-US" sz="1800" dirty="0"/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7874000" y="1854200"/>
            <a:ext cx="7620000" cy="39878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Text 16"/>
          <p:cNvSpPr/>
          <p:nvPr/>
        </p:nvSpPr>
        <p:spPr>
          <a:xfrm>
            <a:off x="8128000" y="1981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Observed vs. Imputed Points</a:t>
            </a:r>
            <a:endParaRPr lang="en-US" sz="18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8128000" y="2413000"/>
          <a:ext cx="7112000" cy="317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762000" y="60960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21" name="Text 18"/>
          <p:cNvSpPr/>
          <p:nvPr/>
        </p:nvSpPr>
        <p:spPr>
          <a:xfrm>
            <a:off x="1079500" y="61976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Transition: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"MI keeps the regression idea, but refuses to pretend the prediction is exact."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「MIは回帰のアイデアを保持するが、予測が完全であると見なすことを拒否する。」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72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1016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B0B8C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FIML, EM &amp; The Likelihood Framework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現代的手法: FIML・EM・尤度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970000" y="0"/>
            <a:ext cx="2286000" cy="9144000"/>
          </a:xfrm>
          <a:prstGeom prst="rect">
            <a:avLst/>
          </a:prstGeom>
          <a:solidFill>
            <a:srgbClr val="252F47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18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Methods: FIML, EM, MI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現代的手法: FIML・EM・MIの概要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854200"/>
            <a:ext cx="4699000" cy="4318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854200"/>
            <a:ext cx="4699000" cy="5588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1854200"/>
            <a:ext cx="4699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FIML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90600" y="2565400"/>
            <a:ext cx="42418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Information Maximum Likelihood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Directly maximizes observed-data likelihood. Uses all available information per case.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観測データ尤度を直接最大化。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SEM, structural equation models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Limitation: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 flexible for auxiliary variables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715000" y="1854200"/>
            <a:ext cx="4699000" cy="4318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715000" y="1854200"/>
            <a:ext cx="4699000" cy="558800"/>
          </a:xfrm>
          <a:prstGeom prst="roundRect">
            <a:avLst>
              <a:gd name="adj" fmla="val 5000"/>
            </a:avLst>
          </a:prstGeom>
          <a:solidFill>
            <a:srgbClr val="B87333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1854200"/>
            <a:ext cx="4699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943600" y="2565400"/>
            <a:ext cx="42418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Expectation-Maximization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Iterates between E-step (expected contributions) and M-step (parameter updates).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EステップとMステップの反復。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Means, covariance matrices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Limitation: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 need extra computation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668000" y="1854200"/>
            <a:ext cx="4826000" cy="4318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68000" y="1854200"/>
            <a:ext cx="4826000" cy="558800"/>
          </a:xfrm>
          <a:prstGeom prst="roundRect">
            <a:avLst>
              <a:gd name="adj" fmla="val 5000"/>
            </a:avLst>
          </a:prstGeom>
          <a:solidFill>
            <a:srgbClr val="4A7C59"/>
          </a:solidFill>
          <a:ln/>
        </p:spPr>
      </p:sp>
      <p:sp>
        <p:nvSpPr>
          <p:cNvPr id="23" name="Text 21"/>
          <p:cNvSpPr/>
          <p:nvPr/>
        </p:nvSpPr>
        <p:spPr>
          <a:xfrm>
            <a:off x="10668000" y="1854200"/>
            <a:ext cx="482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896600" y="2565400"/>
            <a:ext cx="43688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Imputation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m plausible datasets, analyzes each, pools results via Rubin's rules.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m個のデータセットを作成しプール。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General-purpose, highly flexible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Limitation: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correct imputation model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62000" y="6426200"/>
            <a:ext cx="14732000" cy="889000"/>
          </a:xfrm>
          <a:prstGeom prst="roundRect">
            <a:avLst>
              <a:gd name="adj" fmla="val 4000"/>
            </a:avLst>
          </a:prstGeom>
          <a:solidFill>
            <a:srgbClr val="E8EBF2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24"/>
              <p:cNvSpPr/>
              <p:nvPr/>
            </p:nvSpPr>
            <p:spPr>
              <a:xfrm>
                <a:off x="1079500" y="6553200"/>
                <a:ext cx="14097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FIML: maximize </a:t>
                </a:r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L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θ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o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b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 | EM: </a:t>
                </a:r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θ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t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→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E-step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→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M-step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→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θ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t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+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 | MI: </a:t>
                </a:r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…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→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UppPr>
                            <m:e>
                              <m:r>
                                <a:rPr lang="en-US" sz="13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Q</m:t>
                              </m:r>
                            </m:e>
                            <m:lim>
                              <m: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^</m:t>
                              </m:r>
                            </m:lim>
                          </m:limUpp>
                        </m:e>
                        <m:sub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…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UppPr>
                            <m:e>
                              <m:r>
                                <a:rPr lang="en-US" sz="13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Q</m:t>
                              </m:r>
                            </m:e>
                            <m:lim>
                              <m: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^</m:t>
                              </m:r>
                            </m:lim>
                          </m:limUpp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→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pooled </m:t>
                      </m:r>
                      <m:limUpp>
                        <m:limUppPr>
                          <m:ctrlP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8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Q</m:t>
                          </m:r>
                        </m:e>
                        <m:lim>
                          <m: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ˉ</m:t>
                          </m:r>
                        </m:lim>
                      </m:limUp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T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6" name="Text 24"/>
              <p:cNvSpPr/>
              <p:nvPr/>
            </p:nvSpPr>
            <p:spPr>
              <a:xfrm>
                <a:off x="1079500" y="6553200"/>
                <a:ext cx="14097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FIML: maximize </a:t>
                </a:r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L(\theta \mid D_{obs}) \)</a:t>
                </a:r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 | EM: </a:t>
                </a:r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\theta^{(t)} \to \text{E-step} \to \text{M-step} \to \theta^{(t+1)} \)</a:t>
                </a:r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 | MI: </a:t>
                </a:r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D_1, \ldots, D_m \to \hat{Q}_1, \ldots, \hat{Q}_m \to \text{pooled } \bar{Q}, T \)</a:t>
                </a:r>
                <a:endParaRPr lang="en-US" sz="1800" dirty="0"/>
              </a:p>
            </p:txBody>
          </p:sp>
        </mc:Fallback>
      </mc:AlternateContent>
      <p:sp>
        <p:nvSpPr>
          <p:cNvPr id="27" name="Text 2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18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FIML: Observed-Data Likelihood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FIML: 観測データ尤度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85420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Information Maximum Likelihood.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"Full" means all available observed information is used — not that the software knows missing values.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「完全」とは、利用可能な観測情報すべてを使うことを意味する。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person's likelihood contribution uses only the variables they actually have observed. Common in SEM software.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318000"/>
            <a:ext cx="6858000" cy="1905000"/>
          </a:xfrm>
          <a:prstGeom prst="roundRect">
            <a:avLst>
              <a:gd name="adj" fmla="val 5000"/>
            </a:avLst>
          </a:prstGeom>
          <a:solidFill>
            <a:srgbClr val="E8EB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4318000"/>
            <a:ext cx="63500" cy="19050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079500" y="4445000"/>
                <a:ext cx="6286500" cy="165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L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θ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∏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sub>
                      </m:sSub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f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o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b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,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θ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ℓ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θ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sub>
                      </m:sSub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log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⁡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f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o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b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,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θ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8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θ</m:t>
                          </m:r>
                        </m:e>
                        <m:lim>
                          <m: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^</m:t>
                          </m:r>
                        </m:lim>
                      </m:limUp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arg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⁡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max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⁡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θ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ℓ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θ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6" name="Text 14"/>
              <p:cNvSpPr/>
              <p:nvPr/>
            </p:nvSpPr>
            <p:spPr>
              <a:xfrm>
                <a:off x="1079500" y="4445000"/>
                <a:ext cx="6286500" cy="165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L(\theta) = \prod_i f(D_{obs,i} \mid \theta)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\ell(\theta) = \sum_i \log f(D_{obs,i} \mid \theta)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\hat{\theta} = \arg\max_\theta \ell(\theta) \)</a:t>
                </a:r>
                <a:endParaRPr lang="en-US" sz="1800" dirty="0"/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7874000" y="1854200"/>
            <a:ext cx="7620000" cy="43688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Text 16"/>
          <p:cNvSpPr/>
          <p:nvPr/>
        </p:nvSpPr>
        <p:spPr>
          <a:xfrm>
            <a:off x="8128000" y="1981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Missing Patterns, Same Likelihood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28000" y="2489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 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25000" y="2489200"/>
            <a:ext cx="635000" cy="355600"/>
          </a:xfrm>
          <a:prstGeom prst="roundRect">
            <a:avLst>
              <a:gd name="adj" fmla="val 12000"/>
            </a:avLst>
          </a:prstGeom>
          <a:solidFill>
            <a:srgbClr val="4A7C59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0" y="24892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287000" y="2489200"/>
            <a:ext cx="635000" cy="355600"/>
          </a:xfrm>
          <a:prstGeom prst="roundRect">
            <a:avLst>
              <a:gd name="adj" fmla="val 12000"/>
            </a:avLst>
          </a:prstGeom>
          <a:solidFill>
            <a:srgbClr val="4A7C59"/>
          </a:solidFill>
          <a:ln/>
        </p:spPr>
      </p:sp>
      <p:sp>
        <p:nvSpPr>
          <p:cNvPr id="23" name="Text 21"/>
          <p:cNvSpPr/>
          <p:nvPr/>
        </p:nvSpPr>
        <p:spPr>
          <a:xfrm>
            <a:off x="10287000" y="24892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049000" y="2489200"/>
            <a:ext cx="635000" cy="355600"/>
          </a:xfrm>
          <a:prstGeom prst="roundRect">
            <a:avLst>
              <a:gd name="adj" fmla="val 12000"/>
            </a:avLst>
          </a:prstGeom>
          <a:solidFill>
            <a:srgbClr val="4A7C59"/>
          </a:solidFill>
          <a:ln/>
        </p:spPr>
      </p:sp>
      <p:sp>
        <p:nvSpPr>
          <p:cNvPr id="25" name="Text 23"/>
          <p:cNvSpPr/>
          <p:nvPr/>
        </p:nvSpPr>
        <p:spPr>
          <a:xfrm>
            <a:off x="11049000" y="24892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938000" y="24892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observed → full contribution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8000" y="3048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 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525000" y="3048000"/>
            <a:ext cx="635000" cy="355600"/>
          </a:xfrm>
          <a:prstGeom prst="roundRect">
            <a:avLst>
              <a:gd name="adj" fmla="val 12000"/>
            </a:avLst>
          </a:prstGeom>
          <a:solidFill>
            <a:srgbClr val="4A7C59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0" y="30480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287000" y="3048000"/>
            <a:ext cx="635000" cy="3556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10287000" y="30480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1049000" y="3048000"/>
            <a:ext cx="635000" cy="355600"/>
          </a:xfrm>
          <a:prstGeom prst="roundRect">
            <a:avLst>
              <a:gd name="adj" fmla="val 12000"/>
            </a:avLst>
          </a:prstGeom>
          <a:solidFill>
            <a:srgbClr val="4A7C59"/>
          </a:solidFill>
          <a:ln/>
        </p:spPr>
      </p:sp>
      <p:sp>
        <p:nvSpPr>
          <p:cNvPr id="33" name="Text 31"/>
          <p:cNvSpPr/>
          <p:nvPr/>
        </p:nvSpPr>
        <p:spPr>
          <a:xfrm>
            <a:off x="11049000" y="30480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938000" y="30480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 missing → marginal over 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128000" y="36068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 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525000" y="3606800"/>
            <a:ext cx="635000" cy="3556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9525000" y="36068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287000" y="3606800"/>
            <a:ext cx="635000" cy="355600"/>
          </a:xfrm>
          <a:prstGeom prst="roundRect">
            <a:avLst>
              <a:gd name="adj" fmla="val 12000"/>
            </a:avLst>
          </a:prstGeom>
          <a:solidFill>
            <a:srgbClr val="4A7C59"/>
          </a:solidFill>
          <a:ln/>
        </p:spPr>
      </p:sp>
      <p:sp>
        <p:nvSpPr>
          <p:cNvPr id="39" name="Text 37"/>
          <p:cNvSpPr/>
          <p:nvPr/>
        </p:nvSpPr>
        <p:spPr>
          <a:xfrm>
            <a:off x="10287000" y="36068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1049000" y="3606800"/>
            <a:ext cx="635000" cy="3556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11049000" y="36068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938000" y="36068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Y observed → univariate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382000" y="4318000"/>
            <a:ext cx="203200" cy="203200"/>
          </a:xfrm>
          <a:prstGeom prst="roundRect">
            <a:avLst>
              <a:gd name="adj" fmla="val 12000"/>
            </a:avLst>
          </a:prstGeom>
          <a:solidFill>
            <a:srgbClr val="4A7C59"/>
          </a:solidFill>
          <a:ln/>
        </p:spPr>
      </p:sp>
      <p:sp>
        <p:nvSpPr>
          <p:cNvPr id="44" name="Text 42"/>
          <p:cNvSpPr/>
          <p:nvPr/>
        </p:nvSpPr>
        <p:spPr>
          <a:xfrm>
            <a:off x="8686800" y="42672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Observed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0414000" y="4318000"/>
            <a:ext cx="203200" cy="203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10718800" y="42672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Missing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62000" y="64770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48" name="Text 46"/>
          <p:cNvSpPr/>
          <p:nvPr/>
        </p:nvSpPr>
        <p:spPr>
          <a:xfrm>
            <a:off x="1079500" y="65786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Japanese phrase: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"欠測値を埋めるのではなく、観測された部分の尤度を使う。"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FIML does not fill in missing values — it uses the likelihood of observed parts.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18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 Algorithm: Deterministic Iteration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EMアルゴリズム: 決定論的な反復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854200"/>
            <a:ext cx="685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5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Expectation-Maximization.</a:t>
            </a:r>
            <a:pPr algn="l">
              <a:lnSpc>
                <a:spcPct val="145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E-step: calculate expected contribution of missing values to sufficient statistics. M-step: update parameters using expected statistics.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Eステップで欠測値の期待寄与を計算、Mステップでパラメータを更新。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 until convergence. Output: mean vector and covariance matrix.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2000" y="4064000"/>
            <a:ext cx="6858000" cy="1524000"/>
          </a:xfrm>
          <a:prstGeom prst="roundRect">
            <a:avLst>
              <a:gd name="adj" fmla="val 5000"/>
            </a:avLst>
          </a:prstGeom>
          <a:solidFill>
            <a:srgbClr val="E8EB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4064000"/>
            <a:ext cx="63500" cy="15240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079500" y="4191000"/>
                <a:ext cx="6286500" cy="1270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θ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θ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…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θ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t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Convergence: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θ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t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+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θ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t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&lt;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tolerance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6" name="Text 14"/>
              <p:cNvSpPr/>
              <p:nvPr/>
            </p:nvSpPr>
            <p:spPr>
              <a:xfrm>
                <a:off x="1079500" y="4191000"/>
                <a:ext cx="6286500" cy="1270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\theta^{(0)}, \theta^{(1)}, \ldots, \theta^{(t)}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Convergence: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|\theta^{(t+1)} - \theta^{(t)}| &lt; \text{tolerance} \)</a:t>
                </a:r>
                <a:endParaRPr lang="en-US" sz="1800" dirty="0"/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7874000" y="1854200"/>
            <a:ext cx="7620000" cy="34798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Text 16"/>
          <p:cNvSpPr/>
          <p:nvPr/>
        </p:nvSpPr>
        <p:spPr>
          <a:xfrm>
            <a:off x="8128000" y="1981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 Cycle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0" y="2667000"/>
            <a:ext cx="1778000" cy="635000"/>
          </a:xfrm>
          <a:prstGeom prst="roundRect">
            <a:avLst>
              <a:gd name="adj" fmla="val 12000"/>
            </a:avLst>
          </a:prstGeom>
          <a:solidFill>
            <a:srgbClr val="2D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2667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theta^(t)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922000" y="2857500"/>
            <a:ext cx="1016000" cy="38100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1938000" y="2667000"/>
            <a:ext cx="1778000" cy="635000"/>
          </a:xfrm>
          <a:prstGeom prst="roundRect">
            <a:avLst>
              <a:gd name="adj" fmla="val 12000"/>
            </a:avLst>
          </a:prstGeom>
          <a:solidFill>
            <a:srgbClr val="B87333"/>
          </a:solidFill>
          <a:ln/>
        </p:spPr>
      </p:sp>
      <p:sp>
        <p:nvSpPr>
          <p:cNvPr id="23" name="Text 21"/>
          <p:cNvSpPr/>
          <p:nvPr/>
        </p:nvSpPr>
        <p:spPr>
          <a:xfrm>
            <a:off x="11938000" y="2667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E-Step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827000" y="3302000"/>
            <a:ext cx="0" cy="63500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1938000" y="3937000"/>
            <a:ext cx="1778000" cy="635000"/>
          </a:xfrm>
          <a:prstGeom prst="roundRect">
            <a:avLst>
              <a:gd name="adj" fmla="val 12000"/>
            </a:avLst>
          </a:prstGeom>
          <a:solidFill>
            <a:srgbClr val="4A7C59"/>
          </a:solidFill>
          <a:ln/>
        </p:spPr>
      </p:sp>
      <p:sp>
        <p:nvSpPr>
          <p:cNvPr id="26" name="Text 24"/>
          <p:cNvSpPr/>
          <p:nvPr/>
        </p:nvSpPr>
        <p:spPr>
          <a:xfrm>
            <a:off x="11938000" y="3937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M-Step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922000" y="4127500"/>
            <a:ext cx="1016000" cy="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9144000" y="3937000"/>
            <a:ext cx="1778000" cy="635000"/>
          </a:xfrm>
          <a:prstGeom prst="roundRect">
            <a:avLst>
              <a:gd name="adj" fmla="val 12000"/>
            </a:avLst>
          </a:prstGeom>
          <a:solidFill>
            <a:srgbClr val="2D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0" y="3937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theta^(t+1)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033000" y="3302000"/>
            <a:ext cx="0" cy="63500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8128000" y="2667000"/>
            <a:ext cx="88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suff. stats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28000" y="3937000"/>
            <a:ext cx="88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Maximize likelihood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62000" y="55880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1079500" y="56896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Difference from DA: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 uses expectations and produces stable point estimates; DA uses random draws and produces samples from a distribution.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EMは期待値を使い点推定を生む。DAは乱数抽出を使い分布からサンプルを生む。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18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270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EM: Conditional Mean &amp; Variance Correction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EMの条件付き平均と分散補正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854200"/>
            <a:ext cx="14732000" cy="2286000"/>
          </a:xfrm>
          <a:prstGeom prst="roundRect">
            <a:avLst>
              <a:gd name="adj" fmla="val 4000"/>
            </a:avLst>
          </a:prstGeom>
          <a:solidFill>
            <a:srgbClr val="E8EBF2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854200"/>
            <a:ext cx="63500" cy="22860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/>
              <p:cNvSpPr/>
              <p:nvPr/>
            </p:nvSpPr>
            <p:spPr>
              <a:xfrm>
                <a:off x="1079500" y="1981200"/>
                <a:ext cx="14097000" cy="203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Conditional mean (E-step):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E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μ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Σ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X</m:t>
                          </m:r>
                        </m:sub>
                      </m:sSub>
                      <m:sSubSup>
                        <m:sSub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Σ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X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X</m:t>
                          </m:r>
                        </m:sub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p>
                      </m:sSub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μ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X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Key insight — variance correction: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E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[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E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]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Var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5" name="Text 13"/>
              <p:cNvSpPr/>
              <p:nvPr/>
            </p:nvSpPr>
            <p:spPr>
              <a:xfrm>
                <a:off x="1079500" y="1981200"/>
                <a:ext cx="14097000" cy="203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Conditional mean (E-step):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E(Y \mid X=x) = \mu_Y + \Sigma_{YX} \Sigma_{XX}^{-1} (x - \mu_X)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Key insight — variance correction: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E(Y^2 \mid X) = [E(Y \mid X)]^2 + \text{Var}(Y \mid X) \)</a:t>
                </a:r>
                <a:endParaRPr lang="en-US" sz="1800" dirty="0"/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762000" y="4394200"/>
            <a:ext cx="7112000" cy="2667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45212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E(Y^2|X) Matters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16000" y="4953000"/>
            <a:ext cx="660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expected square of a missing value is </a:t>
            </a:r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</a:t>
            </a:r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square of its expected value.</a:t>
            </a:r>
            <a:endParaRPr lang="en-US" sz="15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the variance term, missing values would have too little variation — like deterministic regression imputation.</a:t>
            </a:r>
            <a:endParaRPr lang="en-US" sz="15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分散項なしでは、欠測値の変動が少なすぎる。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28000" y="4394200"/>
            <a:ext cx="7366000" cy="2667000"/>
          </a:xfrm>
          <a:prstGeom prst="roundRect">
            <a:avLst>
              <a:gd name="adj" fmla="val 5000"/>
            </a:avLst>
          </a:prstGeom>
          <a:solidFill>
            <a:srgbClr val="E8EBF2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8000" y="4394200"/>
            <a:ext cx="63500" cy="26670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19"/>
              <p:cNvSpPr/>
              <p:nvPr/>
            </p:nvSpPr>
            <p:spPr>
              <a:xfrm>
                <a:off x="8445500" y="4572000"/>
                <a:ext cx="6794500" cy="228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Var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bSup>
                        <m:sSub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σ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sub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Σ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X</m:t>
                          </m:r>
                        </m:sub>
                      </m:sSub>
                      <m:sSubSup>
                        <m:sSub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Σ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X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X</m:t>
                          </m:r>
                        </m:sub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p>
                      </m:sSubSup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Σ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X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Therefore: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E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≠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[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E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]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unless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Var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1" name="Text 19"/>
              <p:cNvSpPr/>
              <p:nvPr/>
            </p:nvSpPr>
            <p:spPr>
              <a:xfrm>
                <a:off x="8445500" y="4572000"/>
                <a:ext cx="6794500" cy="228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\text{Var}(Y \mid X) = \sigma_Y^2 - \Sigma_{YX} \Sigma_{XX}^{-1} \Sigma_{XY}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Therefore: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E(Y^2 \mid X) \neq [E(Y \mid X)]^2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unless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\text{Var}(Y \mid X) = 0 \)</a:t>
                </a:r>
                <a:endParaRPr lang="en-US" sz="1800" dirty="0"/>
              </a:p>
            </p:txBody>
          </p:sp>
        </mc:Fallback>
      </mc:AlternateContent>
      <p:sp>
        <p:nvSpPr>
          <p:cNvPr id="22" name="Shape 20"/>
          <p:cNvSpPr/>
          <p:nvPr/>
        </p:nvSpPr>
        <p:spPr>
          <a:xfrm>
            <a:off x="762000" y="7315200"/>
            <a:ext cx="14732000" cy="762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1079500" y="7391400"/>
            <a:ext cx="1409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"This one extra variance term is the mathematical antidote to too-neat imputation."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72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937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Imputation &amp; DA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1016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B0B8C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Plausible Completed Datasets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多重代入とデータ拡張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970000" y="0"/>
            <a:ext cx="2286000" cy="9144000"/>
          </a:xfrm>
          <a:prstGeom prst="rect">
            <a:avLst/>
          </a:prstGeom>
          <a:solidFill>
            <a:srgbClr val="252F47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50000" y="1016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270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MI: Several Plausible Realities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多重代入: 複数のあり得るデータ世界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854200"/>
            <a:ext cx="685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Philosophy: the missing value is unknown, so we should not fill it once and pretend certainty. Instead, generate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several plausible completed datasets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欠測値は未知なので、一度埋めて確実性を装うべきではない。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Observed values remain the same; missing values differ. Each is analyzed with ordinary complete-data methods.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2000" y="4445000"/>
            <a:ext cx="6858000" cy="1651000"/>
          </a:xfrm>
          <a:prstGeom prst="roundRect">
            <a:avLst>
              <a:gd name="adj" fmla="val 5000"/>
            </a:avLst>
          </a:prstGeom>
          <a:solidFill>
            <a:srgbClr val="E8EB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4445000"/>
            <a:ext cx="63500" cy="16510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079500" y="4572000"/>
                <a:ext cx="6286500" cy="139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Create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m</m:t>
                      </m:r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completed datasets: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…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Analyze each: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UppPr>
                            <m:e>
                              <m:r>
                                <a:rPr lang="en-US" sz="13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Q</m:t>
                              </m:r>
                            </m:e>
                            <m:lim>
                              <m: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^</m:t>
                              </m:r>
                            </m:lim>
                          </m:limUpp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and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bSup>
                        <m:sSub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SE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</m:sub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Pool to obtain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8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Q</m:t>
                          </m:r>
                        </m:e>
                        <m:lim>
                          <m: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ˉ</m:t>
                          </m:r>
                        </m:lim>
                      </m:limUpp>
                    </m:oMath>
                  </m:oMathPara>
                </a14:m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and total variance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T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6" name="Text 14"/>
              <p:cNvSpPr/>
              <p:nvPr/>
            </p:nvSpPr>
            <p:spPr>
              <a:xfrm>
                <a:off x="1079500" y="4572000"/>
                <a:ext cx="6286500" cy="139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Create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m \)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completed datasets: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D_1, D_2, \ldots, D_m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Analyze each: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\hat{Q}_j \)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and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U_j = \text{SE}_j^2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Pool to obtain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\bar{Q} \)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and total variance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T \)</a:t>
                </a:r>
                <a:endParaRPr lang="en-US" sz="1800" dirty="0"/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7874000" y="1854200"/>
            <a:ext cx="7620000" cy="42418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Text 16"/>
          <p:cNvSpPr/>
          <p:nvPr/>
        </p:nvSpPr>
        <p:spPr>
          <a:xfrm>
            <a:off x="8128000" y="1981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 Plausible Completed Datasets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36000" y="2540000"/>
            <a:ext cx="6096000" cy="457200"/>
          </a:xfrm>
          <a:prstGeom prst="roundRect">
            <a:avLst>
              <a:gd name="adj" fmla="val 8000"/>
            </a:avLst>
          </a:prstGeom>
          <a:solidFill>
            <a:srgbClr val="2D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8636000" y="2540000"/>
            <a:ext cx="609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D_1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obs: same, mis: imputed values A → Q_hat_1, SE_1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36000" y="3098800"/>
            <a:ext cx="6096000" cy="457200"/>
          </a:xfrm>
          <a:prstGeom prst="roundRect">
            <a:avLst>
              <a:gd name="adj" fmla="val 8000"/>
            </a:avLst>
          </a:prstGeom>
          <a:solidFill>
            <a:srgbClr val="2D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8636000" y="3098800"/>
            <a:ext cx="609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D_2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obs: same, mis: imputed values B → Q_hat_2, SE_2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36000" y="36576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...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636000" y="4064000"/>
            <a:ext cx="6096000" cy="457200"/>
          </a:xfrm>
          <a:prstGeom prst="roundRect">
            <a:avLst>
              <a:gd name="adj" fmla="val 8000"/>
            </a:avLst>
          </a:prstGeom>
          <a:solidFill>
            <a:srgbClr val="2D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8636000" y="4064000"/>
            <a:ext cx="609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D_m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obs: same, mis: imputed values M → Q_hat_m, SE_m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1684000" y="4572000"/>
            <a:ext cx="0" cy="38100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9144000" y="5029200"/>
            <a:ext cx="5080000" cy="508000"/>
          </a:xfrm>
          <a:prstGeom prst="roundRect">
            <a:avLst>
              <a:gd name="adj" fmla="val 10000"/>
            </a:avLst>
          </a:prstGeom>
          <a:solidFill>
            <a:srgbClr val="B87333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0" y="50292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 → Q_bar, 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28000" y="56515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estimates barely change → missing-data uncertainty is small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62000" y="63500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1079500" y="64516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"MI creates multiple plausible worlds, then asks how stable the scientific conclusion is across those worlds."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50000" y="1016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Uncertainties MI Must Add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MIが加える2種類の不確実性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854200"/>
            <a:ext cx="7112000" cy="3429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854200"/>
            <a:ext cx="7112000" cy="5588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1854200"/>
            <a:ext cx="711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Residual Uncertainty / 残差不確実性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0600" y="2590800"/>
            <a:ext cx="66548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 if the regression line were known, real observations vary around the line. This is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residual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(within-model) uncertainty.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回帰線が既知でも、実際の観測値は線の周りに変動する。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imputed value must include a random error draw from the estimated residual distribution.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0" y="1854200"/>
            <a:ext cx="7366000" cy="3429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8000" y="1854200"/>
            <a:ext cx="7366000" cy="558800"/>
          </a:xfrm>
          <a:prstGeom prst="roundRect">
            <a:avLst>
              <a:gd name="adj" fmla="val 5000"/>
            </a:avLst>
          </a:prstGeom>
          <a:solidFill>
            <a:srgbClr val="B87333"/>
          </a:solidFill>
          <a:ln/>
        </p:spPr>
      </p:sp>
      <p:sp>
        <p:nvSpPr>
          <p:cNvPr id="19" name="Text 17"/>
          <p:cNvSpPr/>
          <p:nvPr/>
        </p:nvSpPr>
        <p:spPr>
          <a:xfrm>
            <a:off x="8128000" y="1854200"/>
            <a:ext cx="736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Parameter Uncertainty / パラメータ不確実性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56600" y="2590800"/>
            <a:ext cx="69088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regression line itself is estimated from a sample. Another sample would produce a slightly different slope, intercept, and residual variance.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回帰線自体が標本から推定される。別の標本では異なる結果に。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imputation must use a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plausible draw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model parameters.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5372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E8EBF2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5537200"/>
            <a:ext cx="63500" cy="12700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1"/>
              <p:cNvSpPr/>
              <p:nvPr/>
            </p:nvSpPr>
            <p:spPr>
              <a:xfrm>
                <a:off x="1079500" y="5664200"/>
                <a:ext cx="14097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p</m:t>
                          </m:r>
                        </m:sub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b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β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ε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, 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ε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∼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N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σ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,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β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σ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,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are drawn to reflect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parameter uncertainty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. The random error is only one part; the regression equation itself is also uncertain.</a:t>
                </a:r>
                <a:endParaRPr lang="en-US" sz="1800" dirty="0"/>
              </a:p>
            </p:txBody>
          </p:sp>
        </mc:Choice>
        <mc:Fallback xmlns="">
          <p:sp>
            <p:nvSpPr>
              <p:cNvPr id="23" name="Text 21"/>
              <p:cNvSpPr/>
              <p:nvPr/>
            </p:nvSpPr>
            <p:spPr>
              <a:xfrm>
                <a:off x="1079500" y="5664200"/>
                <a:ext cx="14097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Y_{imp}^{(j)} = X \beta^{(j)} + \varepsilon^{(j)} \)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, 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\varepsilon^{(j)} \sim N(0, \sigma^{2,(j)})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\beta^{(j)}, \sigma^{2,(j)} \)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are drawn to reflect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parameter uncertainty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. The random error is only one part; the regression equation itself is also uncertain.</a:t>
                </a:r>
                <a:endParaRPr lang="en-US" sz="1800" dirty="0"/>
              </a:p>
            </p:txBody>
          </p:sp>
        </mc:Fallback>
      </mc:AlternateContent>
      <p:sp>
        <p:nvSpPr>
          <p:cNvPr id="24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50000" y="1016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Augmentation: Stochastic EM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データ拡張: 確率的EM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854200"/>
            <a:ext cx="6858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 is a </a:t>
            </a:r>
            <a:pPr algn="l">
              <a:lnSpc>
                <a:spcPct val="145000"/>
              </a:lnSpc>
            </a:pPr>
            <a:r>
              <a:rPr lang="en-US" sz="15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stochastic version of EM</a:t>
            </a:r>
            <a:pPr algn="l">
              <a:lnSpc>
                <a:spcPct val="145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common engine for generating imputations.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DAはEMの確率的版 — 代入を生成する一般的なエンジン。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I-step: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randomly simulate missing values from current model.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300"/>
              </a:spcBef>
            </a:pPr>
            <a:r>
              <a:rPr lang="en-US" sz="15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P-step:</a:t>
            </a:r>
            <a:pPr algn="l">
              <a:lnSpc>
                <a:spcPct val="145000"/>
              </a:lnSpc>
              <a:spcBef>
                <a:spcPts val="300"/>
              </a:spcBef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randomly simulate new parameters from completed data.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300"/>
              </a:spcBef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Repeating creates a </a:t>
            </a:r>
            <a:pPr algn="l">
              <a:lnSpc>
                <a:spcPct val="145000"/>
              </a:lnSpc>
              <a:spcBef>
                <a:spcPts val="300"/>
              </a:spcBef>
            </a:pPr>
            <a:r>
              <a:rPr lang="en-US" sz="15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Markov chain</a:t>
            </a:r>
            <a:pPr algn="l">
              <a:lnSpc>
                <a:spcPct val="145000"/>
              </a:lnSpc>
              <a:spcBef>
                <a:spcPts val="300"/>
              </a:spcBef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2000" y="4191000"/>
            <a:ext cx="6858000" cy="1905000"/>
          </a:xfrm>
          <a:prstGeom prst="roundRect">
            <a:avLst>
              <a:gd name="adj" fmla="val 5000"/>
            </a:avLst>
          </a:prstGeom>
          <a:solidFill>
            <a:srgbClr val="E8EB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4191000"/>
            <a:ext cx="63500" cy="19050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079500" y="4318000"/>
                <a:ext cx="6286500" cy="165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Target: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p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θ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o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b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I-step:</a:t>
                </a:r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t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+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b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∼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p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o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b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θ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t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P-step:</a:t>
                </a:r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θ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t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+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∼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p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θ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o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b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bSup>
                        <m:sSub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t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+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b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6" name="Text 14"/>
              <p:cNvSpPr/>
              <p:nvPr/>
            </p:nvSpPr>
            <p:spPr>
              <a:xfrm>
                <a:off x="1079500" y="4318000"/>
                <a:ext cx="6286500" cy="165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Target: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p(\theta, D_{mis} \mid D_{obs})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I-step:</a:t>
                </a:r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D_{mis}^{(t+1)} \sim p(D_{mis} \mid D_{obs}, \theta^{(t)})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P-step:</a:t>
                </a:r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\theta^{(t+1)} \sim p(\theta \mid D_{obs}, D_{mis}^{(t+1)}) \)</a:t>
                </a:r>
                <a:endParaRPr lang="en-US" sz="1800" dirty="0"/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7874000" y="1854200"/>
            <a:ext cx="7620000" cy="42418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Text 16"/>
          <p:cNvSpPr/>
          <p:nvPr/>
        </p:nvSpPr>
        <p:spPr>
          <a:xfrm>
            <a:off x="8128000" y="1981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DA: I-Step ↔ P-Step Cycle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0" y="2667000"/>
            <a:ext cx="1778000" cy="635000"/>
          </a:xfrm>
          <a:prstGeom prst="roundRect">
            <a:avLst>
              <a:gd name="adj" fmla="val 12000"/>
            </a:avLst>
          </a:prstGeom>
          <a:solidFill>
            <a:srgbClr val="2D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2667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theta^(t)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922000" y="2794000"/>
            <a:ext cx="1016000" cy="381000"/>
          </a:xfrm>
          <a:prstGeom prst="straightConnector1">
            <a:avLst/>
          </a:prstGeom>
          <a:noFill/>
          <a:ln w="25400">
            <a:solidFill>
              <a:srgbClr val="9B59B6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1938000" y="2667000"/>
            <a:ext cx="1778000" cy="635000"/>
          </a:xfrm>
          <a:prstGeom prst="roundRect">
            <a:avLst>
              <a:gd name="adj" fmla="val 12000"/>
            </a:avLst>
          </a:prstGeom>
          <a:solidFill>
            <a:srgbClr val="9B59B6"/>
          </a:solidFill>
          <a:ln/>
        </p:spPr>
      </p:sp>
      <p:sp>
        <p:nvSpPr>
          <p:cNvPr id="23" name="Text 21"/>
          <p:cNvSpPr/>
          <p:nvPr/>
        </p:nvSpPr>
        <p:spPr>
          <a:xfrm>
            <a:off x="11938000" y="2667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I-Step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827000" y="3302000"/>
            <a:ext cx="0" cy="635000"/>
          </a:xfrm>
          <a:prstGeom prst="straightConnector1">
            <a:avLst/>
          </a:prstGeom>
          <a:noFill/>
          <a:ln w="25400">
            <a:solidFill>
              <a:srgbClr val="9B59B6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1938000" y="3937000"/>
            <a:ext cx="1778000" cy="635000"/>
          </a:xfrm>
          <a:prstGeom prst="roundRect">
            <a:avLst>
              <a:gd name="adj" fmla="val 12000"/>
            </a:avLst>
          </a:prstGeom>
          <a:solidFill>
            <a:srgbClr val="B87333"/>
          </a:solidFill>
          <a:ln/>
        </p:spPr>
      </p:sp>
      <p:sp>
        <p:nvSpPr>
          <p:cNvPr id="26" name="Text 24"/>
          <p:cNvSpPr/>
          <p:nvPr/>
        </p:nvSpPr>
        <p:spPr>
          <a:xfrm>
            <a:off x="11938000" y="3937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P-Step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922000" y="4064000"/>
            <a:ext cx="1016000" cy="0"/>
          </a:xfrm>
          <a:prstGeom prst="straightConnector1">
            <a:avLst/>
          </a:prstGeom>
          <a:noFill/>
          <a:ln w="25400">
            <a:solidFill>
              <a:srgbClr val="9B59B6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9144000" y="3937000"/>
            <a:ext cx="1778000" cy="635000"/>
          </a:xfrm>
          <a:prstGeom prst="roundRect">
            <a:avLst>
              <a:gd name="adj" fmla="val 12000"/>
            </a:avLst>
          </a:prstGeom>
          <a:solidFill>
            <a:srgbClr val="2D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0" y="3937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theta^(t+1)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033000" y="3302000"/>
            <a:ext cx="0" cy="635000"/>
          </a:xfrm>
          <a:prstGeom prst="straightConnector1">
            <a:avLst/>
          </a:prstGeom>
          <a:noFill/>
          <a:ln w="25400">
            <a:solidFill>
              <a:srgbClr val="9B59B6"/>
            </a:solidFill>
            <a:prstDash val="solid"/>
            <a:headEnd type="none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8128000" y="2667000"/>
            <a:ext cx="88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Draw missing data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28000" y="3937000"/>
            <a:ext cx="88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Draw parameters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28000" y="48260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difference from EM: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 uses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draws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expectations. EM asks for the expected value; DA asks for a random plausible value.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EMは期待値を求める。DAは乱数的な plausible 値を求める。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62000" y="63500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1079500" y="64516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"EM asks for the expected value; DA asks for a random plausible value."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チェーンは1つの最終データセットに収束しない。安定部分からの保存が代入となる。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50000" y="1016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DA: Starting Values &amp; Numerical Example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DAの初期値と数値例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854200"/>
            <a:ext cx="14732000" cy="762000"/>
          </a:xfrm>
          <a:prstGeom prst="roundRect">
            <a:avLst>
              <a:gd name="adj" fmla="val 4000"/>
            </a:avLst>
          </a:prstGeom>
          <a:solidFill>
            <a:srgbClr val="E8EBF2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1079500" y="1930400"/>
                <a:ext cx="14097000" cy="609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Starting model:</a:t>
                </a:r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40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5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ε</m:t>
                      </m:r>
                    </m:oMath>
                  </m:oMathPara>
                </a14:m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, </a:t>
                </a:r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ε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∼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N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4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  </a:t>
                </a:r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初期モデル</a:t>
                </a:r>
                <a:endParaRPr lang="en-US" sz="1800" dirty="0"/>
              </a:p>
            </p:txBody>
          </p:sp>
        </mc:Choice>
        <mc:Fallback xmlns="">
          <p:sp>
            <p:nvSpPr>
              <p:cNvPr id="14" name="Text 12"/>
              <p:cNvSpPr/>
              <p:nvPr/>
            </p:nvSpPr>
            <p:spPr>
              <a:xfrm>
                <a:off x="1079500" y="1930400"/>
                <a:ext cx="14097000" cy="609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Starting model:</a:t>
                </a:r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 = 40 + 5X + \varepsilon \)</a:t>
                </a:r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, </a:t>
                </a:r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\varepsilon \sim N(0, 4^2) \)</a:t>
                </a:r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  </a:t>
                </a:r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初期モデル</a:t>
                </a:r>
                <a:endParaRPr lang="en-US" sz="1800" dirty="0"/>
              </a:p>
            </p:txBody>
          </p:sp>
        </mc:Fallback>
      </mc:AlternateContent>
      <p:sp>
        <p:nvSpPr>
          <p:cNvPr id="15" name="Text 13"/>
          <p:cNvSpPr/>
          <p:nvPr/>
        </p:nvSpPr>
        <p:spPr>
          <a:xfrm>
            <a:off x="762000" y="28448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A-E</a:t>
            </a:r>
            <a:endParaRPr lang="en-US" sz="1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276600"/>
          <a:ext cx="6350000" cy="2286000"/>
        </p:xfrm>
        <a:graphic>
          <a:graphicData uri="http://schemas.openxmlformats.org/drawingml/2006/table">
            <a:tbl>
              <a:tblPr/>
              <a:tblGrid>
                <a:gridCol w="1016000"/>
                <a:gridCol w="1016000"/>
                <a:gridCol w="1016000"/>
                <a:gridCol w="1016000"/>
                <a:gridCol w="1016000"/>
                <a:gridCol w="12700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Student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X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Y_hat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eps*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Y_imp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68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obs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obs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?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7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?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-3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7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77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?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+2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7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366000" y="2844800"/>
            <a:ext cx="8128000" cy="3683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Text 15"/>
          <p:cNvSpPr/>
          <p:nvPr/>
        </p:nvSpPr>
        <p:spPr>
          <a:xfrm>
            <a:off x="7620000" y="29718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I-Step Calculations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6"/>
              <p:cNvSpPr/>
              <p:nvPr/>
            </p:nvSpPr>
            <p:spPr>
              <a:xfrm>
                <a:off x="7620000" y="3429000"/>
                <a:ext cx="7620000" cy="292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For D (X=8, Y missing):</a:t>
                </a:r>
                <a:endParaRPr lang="en-US" sz="1600" dirty="0"/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en-US" sz="16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6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lim>
                          <m:r>
                            <a:rPr lang="en-US" sz="16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^</m:t>
                          </m:r>
                        </m:lim>
                      </m:limUpp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40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5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8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80</m:t>
                      </m:r>
                    </m:oMath>
                  </m:oMathPara>
                </a14:m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; draw </a:t>
                </a:r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ε</m:t>
                          </m:r>
                        </m:e>
                        <m:sup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∗</m:t>
                          </m:r>
                        </m:sup>
                      </m:sSup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3</m:t>
                      </m:r>
                    </m:oMath>
                  </m:oMathPara>
                </a14:m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; </a:t>
                </a:r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p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77</m:t>
                      </m:r>
                    </m:oMath>
                  </m:oMathPara>
                </a14:m>
                <a:endParaRPr lang="en-US" sz="1600" dirty="0"/>
              </a:p>
              <a:p>
                <a:pPr algn="l"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For E (X=10, Y missing):</a:t>
                </a:r>
                <a:endParaRPr lang="en-US" sz="1600" dirty="0"/>
              </a:p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en-US" sz="16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6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lim>
                          <m:r>
                            <a:rPr lang="en-US" sz="16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^</m:t>
                          </m:r>
                        </m:lim>
                      </m:limUpp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40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5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10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90</m:t>
                      </m:r>
                    </m:oMath>
                  </m:oMathPara>
                </a14:m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; draw </a:t>
                </a:r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ε</m:t>
                          </m:r>
                        </m:e>
                        <m:sup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∗</m:t>
                          </m:r>
                        </m:sup>
                      </m:sSup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2</m:t>
                      </m:r>
                    </m:oMath>
                  </m:oMathPara>
                </a14:m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; </a:t>
                </a:r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p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92</m:t>
                      </m:r>
                    </m:oMath>
                  </m:oMathPara>
                </a14:m>
                <a:endParaRPr lang="en-US" sz="1600" dirty="0"/>
              </a:p>
              <a:p>
                <a:pPr algn="l">
                  <a:lnSpc>
                    <a:spcPct val="160000"/>
                  </a:lnSpc>
                  <a:spcBef>
                    <a:spcPts val="800"/>
                  </a:spcBef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I-stepは予測値にランダム誤差を加える。これが一時的な完成データセット。</a:t>
                </a:r>
                <a:endParaRPr lang="en-US" sz="1600" dirty="0"/>
              </a:p>
              <a:p>
                <a:pPr algn="l"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en-US" sz="1600" b="1" dirty="0">
                    <a:solidFill>
                      <a:srgbClr val="B8733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Key:</a:t>
                </a:r>
                <a:pPr algn="l"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These imputations are temporary — DA will redraw them in the next cycle.</a:t>
                </a:r>
                <a:endParaRPr lang="en-US" sz="1600" dirty="0"/>
              </a:p>
            </p:txBody>
          </p:sp>
        </mc:Choice>
        <mc:Fallback xmlns="">
          <p:sp>
            <p:nvSpPr>
              <p:cNvPr id="19" name="Text 16"/>
              <p:cNvSpPr/>
              <p:nvPr/>
            </p:nvSpPr>
            <p:spPr>
              <a:xfrm>
                <a:off x="7620000" y="3429000"/>
                <a:ext cx="7620000" cy="292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For D (X=8, Y missing):</a:t>
                </a:r>
                <a:endParaRPr lang="en-US" sz="16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\hat{Y} = 40 + 5(8) = 80 \)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; draw 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\varepsilon^* = -3 \)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; 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Y_{imp} = 77 \)</a:t>
                </a:r>
                <a:endParaRPr lang="en-US" sz="1600" dirty="0"/>
              </a:p>
              <a:p>
                <a:pPr algn="l"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For E (X=10, Y missing):</a:t>
                </a:r>
                <a:endParaRPr lang="en-US" sz="16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\hat{Y} = 40 + 5(10) = 90 \)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; draw 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\varepsilon^* = +2 \)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; 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Y_{imp} = 92 \)</a:t>
                </a:r>
                <a:endParaRPr lang="en-US" sz="1600" dirty="0"/>
              </a:p>
              <a:p>
                <a:pPr algn="l">
                  <a:lnSpc>
                    <a:spcPct val="160000"/>
                  </a:lnSpc>
                  <a:spcBef>
                    <a:spcPts val="800"/>
                  </a:spcBef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I-stepは予測値にランダム誤差を加える。これが一時的な完成データセット。</a:t>
                </a:r>
                <a:endParaRPr lang="en-US" sz="1600" dirty="0"/>
              </a:p>
              <a:p>
                <a:pPr algn="l"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en-US" sz="1600" b="1" dirty="0">
                    <a:solidFill>
                      <a:srgbClr val="B8733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Key:</a:t>
                </a:r>
                <a:pPr algn="l"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These imputations are temporary — DA will redraw them in the next cycle.</a:t>
                </a:r>
                <a:endParaRPr lang="en-US" sz="1600" dirty="0"/>
              </a:p>
            </p:txBody>
          </p:sp>
        </mc:Fallback>
      </mc:AlternateContent>
      <p:sp>
        <p:nvSpPr>
          <p:cNvPr id="20" name="Shape 17"/>
          <p:cNvSpPr/>
          <p:nvPr/>
        </p:nvSpPr>
        <p:spPr>
          <a:xfrm>
            <a:off x="762000" y="6731000"/>
            <a:ext cx="14732000" cy="762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21" name="Text 18"/>
          <p:cNvSpPr/>
          <p:nvPr/>
        </p:nvSpPr>
        <p:spPr>
          <a:xfrm>
            <a:off x="1079500" y="68326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Starting values (theta^(0))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come from complete cases, available-data estimates, or EM. They are only a launch point.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初期値は出発点に過ぎない。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50000" y="1016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DA: I-Step &amp; P-Step Dynamics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DAのIステップとPステップ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9050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905000"/>
            <a:ext cx="4699000" cy="4572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/>
              <p:cNvSpPr/>
              <p:nvPr/>
            </p:nvSpPr>
            <p:spPr>
              <a:xfrm>
                <a:off x="952500" y="2489200"/>
                <a:ext cx="4318000" cy="177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I-step: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Using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5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40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5</m:t>
                      </m:r>
                      <m:r>
                        <a:rPr lang="en-US" sz="15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5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N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p>
                        <m:sSup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4</m:t>
                          </m:r>
                        </m:e>
                        <m:sup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5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Imputes: 77, 92 for D, E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P-step:</a:t>
                </a:r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New regression on completed data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θ</m:t>
                          </m:r>
                        </m:e>
                        <m:sup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p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39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5.1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5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15" name="Text 13"/>
              <p:cNvSpPr/>
              <p:nvPr/>
            </p:nvSpPr>
            <p:spPr>
              <a:xfrm>
                <a:off x="952500" y="2489200"/>
                <a:ext cx="4318000" cy="177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I-step: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Using 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 = 40 + 5X + N(0,4^2) \)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Imputes: 77, 92 for D, E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P-step:</a:t>
                </a:r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New regression on completed data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\theta^{(1)} = (39, 5.1, 5) \)</a:t>
                </a:r>
                <a:endParaRPr lang="en-US" sz="1500" dirty="0"/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5461000" y="3048000"/>
            <a:ext cx="381000" cy="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5842000" y="19050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842000" y="1905000"/>
            <a:ext cx="4699000" cy="457200"/>
          </a:xfrm>
          <a:prstGeom prst="roundRect">
            <a:avLst>
              <a:gd name="adj" fmla="val 5000"/>
            </a:avLst>
          </a:prstGeom>
          <a:solidFill>
            <a:srgbClr val="B87333"/>
          </a:solidFill>
          <a:ln/>
        </p:spPr>
      </p:sp>
      <p:sp>
        <p:nvSpPr>
          <p:cNvPr id="19" name="Text 17"/>
          <p:cNvSpPr/>
          <p:nvPr/>
        </p:nvSpPr>
        <p:spPr>
          <a:xfrm>
            <a:off x="5842000" y="1905000"/>
            <a:ext cx="469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Iteration 1 → 2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8"/>
              <p:cNvSpPr/>
              <p:nvPr/>
            </p:nvSpPr>
            <p:spPr>
              <a:xfrm>
                <a:off x="6032500" y="2489200"/>
                <a:ext cx="4318000" cy="177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I-step: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Using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5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39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5.1</m:t>
                      </m:r>
                      <m:r>
                        <a:rPr lang="en-US" sz="15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5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N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p>
                        <m:sSup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5</m:t>
                          </m:r>
                        </m:e>
                        <m:sup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5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New imputes: different values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P-step:</a:t>
                </a:r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New regression again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θ</m:t>
                          </m:r>
                        </m:e>
                        <m:sup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p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39.5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4.9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4.5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20" name="Text 18"/>
              <p:cNvSpPr/>
              <p:nvPr/>
            </p:nvSpPr>
            <p:spPr>
              <a:xfrm>
                <a:off x="6032500" y="2489200"/>
                <a:ext cx="4318000" cy="177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I-step: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Using 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 = 39 + 5.1X + N(0,5^2) \)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New imputes: different values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P-step:</a:t>
                </a:r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New regression again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\theta^{(2)} = (39.5, 4.9, 4.5) \)</a:t>
                </a:r>
                <a:endParaRPr lang="en-US" sz="1500" dirty="0"/>
              </a:p>
            </p:txBody>
          </p:sp>
        </mc:Fallback>
      </mc:AlternateContent>
      <p:sp>
        <p:nvSpPr>
          <p:cNvPr id="21" name="Shape 19"/>
          <p:cNvSpPr/>
          <p:nvPr/>
        </p:nvSpPr>
        <p:spPr>
          <a:xfrm>
            <a:off x="10541000" y="3048000"/>
            <a:ext cx="381000" cy="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0922000" y="1905000"/>
            <a:ext cx="4572000" cy="2540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22000" y="1905000"/>
            <a:ext cx="4572000" cy="457200"/>
          </a:xfrm>
          <a:prstGeom prst="roundRect">
            <a:avLst>
              <a:gd name="adj" fmla="val 5000"/>
            </a:avLst>
          </a:prstGeom>
          <a:solidFill>
            <a:srgbClr val="4A7C59"/>
          </a:solidFill>
          <a:ln/>
        </p:spPr>
      </p:sp>
      <p:sp>
        <p:nvSpPr>
          <p:cNvPr id="24" name="Text 22"/>
          <p:cNvSpPr/>
          <p:nvPr/>
        </p:nvSpPr>
        <p:spPr>
          <a:xfrm>
            <a:off x="10922000" y="19050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Iteration 2 → ...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112500" y="24892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Continues alternating I-step and P-step.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Earlier imputations (77, 92) are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sacred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they are replaced by new draws.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alternation makes DA a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Markov chain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62000" y="46990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E8EBF2"/>
          </a:solidFill>
          <a:ln/>
        </p:spPr>
      </p:sp>
      <p:sp>
        <p:nvSpPr>
          <p:cNvPr id="27" name="Shape 25"/>
          <p:cNvSpPr/>
          <p:nvPr/>
        </p:nvSpPr>
        <p:spPr>
          <a:xfrm>
            <a:off x="762000" y="4699000"/>
            <a:ext cx="63500" cy="12700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26"/>
              <p:cNvSpPr/>
              <p:nvPr/>
            </p:nvSpPr>
            <p:spPr>
              <a:xfrm>
                <a:off x="1079500" y="4826000"/>
                <a:ext cx="14097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θ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40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5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4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limUpp>
                        <m:limUppPr>
                          <m:ctrlP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→</m:t>
                          </m:r>
                        </m:e>
                        <m:lim>
                          <m: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I-step</m:t>
                          </m:r>
                        </m:lim>
                      </m:limUp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completed data</m:t>
                      </m:r>
                      <m:limUpp>
                        <m:limUppPr>
                          <m:ctrlP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→</m:t>
                          </m:r>
                        </m:e>
                        <m:lim>
                          <m: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P-step</m:t>
                          </m:r>
                        </m:lim>
                      </m:limUpp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θ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39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5.1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5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Next I-step uses: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39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5.1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ε</m:t>
                      </m:r>
                    </m:oMath>
                  </m:oMathPara>
                </a14:m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, 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ε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∼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N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5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— the model keeps evolving.</a:t>
                </a:r>
                <a:endParaRPr lang="en-US" sz="1800" dirty="0"/>
              </a:p>
            </p:txBody>
          </p:sp>
        </mc:Choice>
        <mc:Fallback xmlns="">
          <p:sp>
            <p:nvSpPr>
              <p:cNvPr id="28" name="Text 26"/>
              <p:cNvSpPr/>
              <p:nvPr/>
            </p:nvSpPr>
            <p:spPr>
              <a:xfrm>
                <a:off x="1079500" y="4826000"/>
                <a:ext cx="14097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\theta^{(0)} = (40, 5, 4) \xrightarrow{\text{I-step}} \text{completed data} \xrightarrow{\text{P-step}} \theta^{(1)} = (39, 5.1, 5)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Next I-step uses: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 = 39 + 5.1X + \varepsilon \)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, 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\varepsilon \sim N(0, 5^2) \)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— the model keeps evolving.</a:t>
                </a:r>
                <a:endParaRPr lang="en-US" sz="1800" dirty="0"/>
              </a:p>
            </p:txBody>
          </p:sp>
        </mc:Fallback>
      </mc:AlternateContent>
      <p:sp>
        <p:nvSpPr>
          <p:cNvPr id="29" name="Shape 27"/>
          <p:cNvSpPr/>
          <p:nvPr/>
        </p:nvSpPr>
        <p:spPr>
          <a:xfrm>
            <a:off x="762000" y="62230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1079500" y="63246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Misconception to fix: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One random imputation is NOT the final imputation. DA repeatedly redraws.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1回の乱数代入が最終ではない。DAは繰り返し再抽出する。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50000" y="1016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270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Markov Chain, Burn-in &amp; Saved Imputations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マルコフ連鎖とバーンイン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9050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EDEAE4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905000"/>
            <a:ext cx="5080000" cy="1270000"/>
          </a:xfrm>
          <a:prstGeom prst="roundRect">
            <a:avLst>
              <a:gd name="adj" fmla="val 4000"/>
            </a:avLst>
          </a:prstGeom>
          <a:solidFill>
            <a:srgbClr val="F5E6E6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1905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BURN-IN (discard) / バーンイン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2500" y="2413000"/>
            <a:ext cx="469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iterations influenced by poor starting values. Discard t = 1, ..., B_0.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42000" y="1905000"/>
            <a:ext cx="9652000" cy="1270000"/>
          </a:xfrm>
          <a:prstGeom prst="roundRect">
            <a:avLst>
              <a:gd name="adj" fmla="val 4000"/>
            </a:avLst>
          </a:prstGeom>
          <a:solidFill>
            <a:srgbClr val="E6F5E6"/>
          </a:solidFill>
          <a:ln/>
        </p:spPr>
      </p:sp>
      <p:sp>
        <p:nvSpPr>
          <p:cNvPr id="18" name="Text 16"/>
          <p:cNvSpPr/>
          <p:nvPr/>
        </p:nvSpPr>
        <p:spPr>
          <a:xfrm>
            <a:off x="5842000" y="1905000"/>
            <a:ext cx="965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STABLE REGION (save) / 安定領域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2500" y="2413000"/>
            <a:ext cx="927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Save D_1 at t=a, D_2 at t=a+k, ..., D_m at t=a+(m-1)k. One saved dataset = one imputation.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88000" y="2413000"/>
            <a:ext cx="381000" cy="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762000" y="34290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5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Markov property:</a:t>
            </a:r>
            <a:pPr algn="l">
              <a:lnSpc>
                <a:spcPct val="145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new state depends only on the immediately previous state. The chain explores the distribution of plausible completed datasets and parameters.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直前の状態から次の状態が生成される。マルコフ連鎖。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 explores the 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distribution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plausible values, not one correct missing value.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62000" y="5664200"/>
            <a:ext cx="7112000" cy="1016000"/>
          </a:xfrm>
          <a:prstGeom prst="roundRect">
            <a:avLst>
              <a:gd name="adj" fmla="val 5000"/>
            </a:avLst>
          </a:prstGeom>
          <a:solidFill>
            <a:srgbClr val="E8EBF2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5664200"/>
            <a:ext cx="63500" cy="10160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/>
              <p:cNvSpPr/>
              <p:nvPr/>
            </p:nvSpPr>
            <p:spPr>
              <a:xfrm>
                <a:off x="1079500" y="5765800"/>
                <a:ext cx="6540500" cy="825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Burn-in: discard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t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…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B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Save: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at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t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a</m:t>
                      </m:r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,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at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t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a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k</m:t>
                      </m:r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, ...,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at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t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a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m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k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4" name="Text 22"/>
              <p:cNvSpPr/>
              <p:nvPr/>
            </p:nvSpPr>
            <p:spPr>
              <a:xfrm>
                <a:off x="1079500" y="5765800"/>
                <a:ext cx="6540500" cy="825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Burn-in: discard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t = 1, \ldots, B_0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Save: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D_1 \)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at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t=a \)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,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D_2 \)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at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t=a+k \)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, ...,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D_m \)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at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t=a+(m-1)k \)</a:t>
                </a:r>
                <a:endParaRPr lang="en-US" sz="1800" dirty="0"/>
              </a:p>
            </p:txBody>
          </p:sp>
        </mc:Fallback>
      </mc:AlternateContent>
      <p:sp>
        <p:nvSpPr>
          <p:cNvPr id="25" name="Shape 23"/>
          <p:cNvSpPr/>
          <p:nvPr/>
        </p:nvSpPr>
        <p:spPr>
          <a:xfrm>
            <a:off x="8128000" y="3429000"/>
            <a:ext cx="7366000" cy="32512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26" name="Text 24"/>
          <p:cNvSpPr/>
          <p:nvPr/>
        </p:nvSpPr>
        <p:spPr>
          <a:xfrm>
            <a:off x="8382000" y="3556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Spacing Matters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82000" y="4013200"/>
            <a:ext cx="6858000" cy="248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Consecutive iterations can be very similar because each step depends on the previous step.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Spacing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saved imputations reduces this dependence.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independent chains can also be used for convergence checking.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1チェーンが1代入に相当する必要はない。1つの長いチェーンから多数の代入を生成できる。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6934200"/>
            <a:ext cx="14732000" cy="762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1079500" y="70358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chain can yield many imputations; each saved draw (after burn-in and spacing) is one imputation.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50000" y="1016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Chains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複数チェーン: 初期値をどう変えるか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85420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multiple chains with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initial values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different random seeds. The goal is not for chains to remain different — the goal is for them to forget their starting points and converge to the same stable distribution.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異なる初期値と異なるシードで開始。同じ安定分布に収束することが目標。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chains remain separated: poor mixing, short burn-in, or unstable model.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318000"/>
            <a:ext cx="6858000" cy="1625600"/>
          </a:xfrm>
          <a:prstGeom prst="roundRect">
            <a:avLst>
              <a:gd name="adj" fmla="val 5000"/>
            </a:avLst>
          </a:prstGeom>
          <a:solidFill>
            <a:srgbClr val="E8EB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4318000"/>
            <a:ext cx="63500" cy="16256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079500" y="4419600"/>
                <a:ext cx="6286500" cy="1422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3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θ</m:t>
                          </m:r>
                        </m:e>
                        <m:sub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</m:t>
                          </m:r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bSup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≠</m:t>
                      </m:r>
                      <m:sSubSup>
                        <m:sSubSup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θ</m:t>
                          </m:r>
                        </m:e>
                        <m:sub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b>
                        <m:sup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</m:t>
                          </m:r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bSup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≠</m:t>
                      </m:r>
                      <m:sSubSup>
                        <m:sSubSup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θ</m:t>
                          </m:r>
                        </m:e>
                        <m:sub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3</m:t>
                          </m:r>
                        </m:sub>
                        <m:sup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</m:t>
                          </m:r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500" dirty="0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seed</m:t>
                          </m:r>
                        </m:e>
                        <m:sub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≠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seed</m:t>
                          </m:r>
                        </m:e>
                        <m:sub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≠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seed</m:t>
                          </m:r>
                        </m:e>
                        <m:sub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500" dirty="0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After burn-in: same </a:t>
                </a:r>
                <a:pPr algn="l">
                  <a:lnSpc>
                    <a:spcPct val="135000"/>
                  </a:lnSpc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5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p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5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θ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o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b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16" name="Text 14"/>
              <p:cNvSpPr/>
              <p:nvPr/>
            </p:nvSpPr>
            <p:spPr>
              <a:xfrm>
                <a:off x="1079500" y="4419600"/>
                <a:ext cx="6286500" cy="1422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35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\theta_1^{(0)} \neq \theta_2^{(0)} \neq \theta_3^{(0)} \)</a:t>
                </a:r>
                <a:endParaRPr lang="en-US" sz="1500" dirty="0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\text{seed}_1 \neq \text{seed}_2 \neq \text{seed}_3 \)</a:t>
                </a:r>
                <a:endParaRPr lang="en-US" sz="1500" dirty="0"/>
              </a:p>
              <a:p>
                <a:pPr algn="l">
                  <a:lnSpc>
                    <a:spcPct val="135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After burn-in: same </a:t>
                </a:r>
                <a:pPr algn="l">
                  <a:lnSpc>
                    <a:spcPct val="135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p(\theta, D_{mis} \mid D_{obs}) \)</a:t>
                </a:r>
                <a:endParaRPr lang="en-US" sz="1500" dirty="0"/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7874000" y="1854200"/>
            <a:ext cx="7620000" cy="38608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Text 16"/>
          <p:cNvSpPr/>
          <p:nvPr/>
        </p:nvSpPr>
        <p:spPr>
          <a:xfrm>
            <a:off x="8128000" y="1981200"/>
            <a:ext cx="711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Chains Converging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82000" y="2540000"/>
            <a:ext cx="6858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ysDot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382000" y="2489200"/>
            <a:ext cx="101600" cy="1016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84000" y="2489200"/>
            <a:ext cx="101600" cy="1016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22" name="Shape 20"/>
          <p:cNvSpPr/>
          <p:nvPr/>
        </p:nvSpPr>
        <p:spPr>
          <a:xfrm>
            <a:off x="14986000" y="2489200"/>
            <a:ext cx="101600" cy="10160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0" y="2286000"/>
            <a:ext cx="101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 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82000" y="3175000"/>
            <a:ext cx="6858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ysDot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382000" y="3124200"/>
            <a:ext cx="101600" cy="1016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26" name="Shape 24"/>
          <p:cNvSpPr/>
          <p:nvPr/>
        </p:nvSpPr>
        <p:spPr>
          <a:xfrm>
            <a:off x="11684000" y="3124200"/>
            <a:ext cx="101600" cy="1016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14986000" y="3124200"/>
            <a:ext cx="101600" cy="10160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28" name="Text 26"/>
          <p:cNvSpPr/>
          <p:nvPr/>
        </p:nvSpPr>
        <p:spPr>
          <a:xfrm>
            <a:off x="8382000" y="2895600"/>
            <a:ext cx="101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 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82000" y="3810000"/>
            <a:ext cx="6858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ysDot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8382000" y="3759200"/>
            <a:ext cx="101600" cy="10160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31" name="Shape 29"/>
          <p:cNvSpPr/>
          <p:nvPr/>
        </p:nvSpPr>
        <p:spPr>
          <a:xfrm>
            <a:off x="11684000" y="3759200"/>
            <a:ext cx="101600" cy="1016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14986000" y="3759200"/>
            <a:ext cx="101600" cy="10160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33" name="Text 31"/>
          <p:cNvSpPr/>
          <p:nvPr/>
        </p:nvSpPr>
        <p:spPr>
          <a:xfrm>
            <a:off x="8382000" y="3530600"/>
            <a:ext cx="101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 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90000" y="41910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Different starts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176000" y="41910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Mixing 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3462000" y="41910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region 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28000" y="4673600"/>
            <a:ext cx="711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Different hikers start at different places but should end up walking around the same lake path.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異なるハイカーが異なる場所から出発するが、同じ湖の周りを歩くはず。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62000" y="6096000"/>
            <a:ext cx="14732000" cy="8255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39" name="Text 37"/>
          <p:cNvSpPr/>
          <p:nvPr/>
        </p:nvSpPr>
        <p:spPr>
          <a:xfrm>
            <a:off x="1079500" y="6172200"/>
            <a:ext cx="14097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Convergence check: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chains started from different places eventually wander around the same region, that supports convergence.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D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72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1016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B0B8C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Combining Estimates &amp; Standard Errors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Rubinのルールとプーリング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970000" y="0"/>
            <a:ext cx="2286000" cy="9144000"/>
          </a:xfrm>
          <a:prstGeom prst="rect">
            <a:avLst/>
          </a:prstGeom>
          <a:solidFill>
            <a:srgbClr val="252F47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36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Rubin's Rules: The Pooling Problem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Rubinのルール: プーリング問題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762000" y="1854200"/>
                <a:ext cx="14732000" cy="1079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45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After MI, we have </a:t>
                </a:r>
                <a:pPr algn="l">
                  <a:lnSpc>
                    <a:spcPct val="145000"/>
                  </a:lnSpc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m complete datasets</a:t>
                </a:r>
                <a:pPr algn="l">
                  <a:lnSpc>
                    <a:spcPct val="145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. We analyze each with the same complete-data method. For parameter Q, dataset j gives estimate </a:t>
                </a:r>
                <a:pPr algn="l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en-US" sz="11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UppPr>
                            <m:e>
                              <m:r>
                                <a:rPr lang="en-US" sz="11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Q</m:t>
                              </m:r>
                            </m:e>
                            <m:lim>
                              <m:r>
                                <a:rPr lang="en-US" sz="11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^</m:t>
                              </m:r>
                            </m:lim>
                          </m:limUpp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pPr algn="l">
                  <a:lnSpc>
                    <a:spcPct val="145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and variance </a:t>
                </a:r>
                <a:pPr algn="l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bSup>
                        <m:sSubSup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SE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</m:sub>
                        <m:sup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pPr algn="l">
                  <a:lnSpc>
                    <a:spcPct val="145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.</a:t>
                </a:r>
                <a:endParaRPr lang="en-US" sz="1500" dirty="0"/>
              </a:p>
              <a:p>
                <a:pPr algn="l">
                  <a:lnSpc>
                    <a:spcPct val="145000"/>
                  </a:lnSpc>
                  <a:spcBef>
                    <a:spcPts val="300"/>
                  </a:spcBef>
                </a:pPr>
                <a:r>
                  <a:rPr lang="en-US" sz="13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MI後、m個の完全データセットがある。各々を同じ方法で分析し、推定値と分散を得る。</a:t>
                </a:r>
                <a:endParaRPr lang="en-US" sz="1500" dirty="0"/>
              </a:p>
            </p:txBody>
          </p:sp>
        </mc:Choice>
        <mc:Fallback xmlns="">
          <p:sp>
            <p:nvSpPr>
              <p:cNvPr id="13" name="Text 11"/>
              <p:cNvSpPr/>
              <p:nvPr/>
            </p:nvSpPr>
            <p:spPr>
              <a:xfrm>
                <a:off x="762000" y="1854200"/>
                <a:ext cx="14732000" cy="1079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45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After MI, we have </a:t>
                </a:r>
                <a:pPr algn="l">
                  <a:lnSpc>
                    <a:spcPct val="145000"/>
                  </a:lnSpc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m complete datasets</a:t>
                </a:r>
                <a:pPr algn="l">
                  <a:lnSpc>
                    <a:spcPct val="145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. We analyze each with the same complete-data method. For parameter Q, dataset j gives estimate </a:t>
                </a:r>
                <a:pPr algn="l">
                  <a:lnSpc>
                    <a:spcPct val="145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\hat{Q}_j \)</a:t>
                </a:r>
                <a:pPr algn="l">
                  <a:lnSpc>
                    <a:spcPct val="145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and variance </a:t>
                </a:r>
                <a:pPr algn="l">
                  <a:lnSpc>
                    <a:spcPct val="145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U_j = \text{SE}_j^2 \)</a:t>
                </a:r>
                <a:pPr algn="l">
                  <a:lnSpc>
                    <a:spcPct val="145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.</a:t>
                </a:r>
                <a:endParaRPr lang="en-US" sz="1500" dirty="0"/>
              </a:p>
              <a:p>
                <a:pPr algn="l">
                  <a:lnSpc>
                    <a:spcPct val="145000"/>
                  </a:lnSpc>
                  <a:spcBef>
                    <a:spcPts val="300"/>
                  </a:spcBef>
                </a:pPr>
                <a:r>
                  <a:rPr lang="en-US" sz="13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MI後、m個の完全データセットがある。各々を同じ方法で分析し、推定値と分散を得る。</a:t>
                </a:r>
                <a:endParaRPr lang="en-US" sz="1500" dirty="0"/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762000" y="3073400"/>
            <a:ext cx="7112000" cy="18415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3073400"/>
            <a:ext cx="63500" cy="1841500"/>
          </a:xfrm>
          <a:prstGeom prst="rect">
            <a:avLst/>
          </a:prstGeom>
          <a:solidFill>
            <a:srgbClr val="2D3A5C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016000" y="3200400"/>
                <a:ext cx="6667500" cy="1587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Within-imputation variance</a:t>
                </a:r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代入内分散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Ordinary sampling uncertainty inside each completed dataset. If missing values were treated as fixed, how much uncertainty would remain?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en-US" sz="16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6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</m:e>
                        <m:lim>
                          <m:r>
                            <a:rPr lang="en-US" sz="16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ˉ</m:t>
                          </m:r>
                        </m:lim>
                      </m:limUpp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num>
                        <m:den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</m:den>
                      </m:f>
                      <m:sSubSup>
                        <m:sSubSup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=</m:t>
                          </m:r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</m:sup>
                      </m:sSubSup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Text 14"/>
              <p:cNvSpPr/>
              <p:nvPr/>
            </p:nvSpPr>
            <p:spPr>
              <a:xfrm>
                <a:off x="1016000" y="3200400"/>
                <a:ext cx="6667500" cy="1587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Within-imputation variance</a:t>
                </a:r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代入内分散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Ordinary sampling uncertainty inside each completed dataset. If missing values were treated as fixed, how much uncertainty would remain?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\bar{U} = \frac{1}{m} \sum_{j=1}^m U_j \)</a:t>
                </a:r>
                <a:endParaRPr lang="en-US" sz="1600" dirty="0"/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8128000" y="3073400"/>
            <a:ext cx="7366000" cy="18415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8000" y="3073400"/>
            <a:ext cx="63500" cy="18415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7"/>
              <p:cNvSpPr/>
              <p:nvPr/>
            </p:nvSpPr>
            <p:spPr>
              <a:xfrm>
                <a:off x="8382000" y="3200400"/>
                <a:ext cx="6921500" cy="1587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Between-imputation variance</a:t>
                </a:r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代入間分散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How much the estimate changes because missing values differ across completed datasets. This is the missing-data uncertainty.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B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num>
                        <m:den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</m:t>
                          </m:r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den>
                      </m:f>
                      <m:sSubSup>
                        <m:sSubSup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=</m:t>
                          </m:r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</m:sup>
                      </m:sSubSup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en-US" sz="11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UppPr>
                            <m:e>
                              <m:r>
                                <a:rPr lang="en-US" sz="11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Q</m:t>
                              </m:r>
                            </m:e>
                            <m:lim>
                              <m:r>
                                <a:rPr lang="en-US" sz="11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^</m:t>
                              </m:r>
                            </m:lim>
                          </m:limUpp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limUpp>
                        <m:limUppPr>
                          <m:ctrlPr>
                            <a:rPr lang="en-US" sz="16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6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Q</m:t>
                          </m:r>
                        </m:e>
                        <m:lim>
                          <m:r>
                            <a:rPr lang="en-US" sz="16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ˉ</m:t>
                          </m:r>
                        </m:lim>
                      </m:limUpp>
                      <m:sSup>
                        <m:sSup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e>
                        <m:sup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 17"/>
              <p:cNvSpPr/>
              <p:nvPr/>
            </p:nvSpPr>
            <p:spPr>
              <a:xfrm>
                <a:off x="8382000" y="3200400"/>
                <a:ext cx="6921500" cy="1587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Between-imputation variance</a:t>
                </a:r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代入間分散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How much the estimate changes because missing values differ across completed datasets. This is the missing-data uncertainty.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B = \frac{1}{m-1} \sum_{j=1}^m (\hat{Q}_j - \bar{Q})^2 \)</a:t>
                </a:r>
                <a:endParaRPr lang="en-US" sz="1600" dirty="0"/>
              </a:p>
            </p:txBody>
          </p:sp>
        </mc:Fallback>
      </mc:AlternateContent>
      <p:sp>
        <p:nvSpPr>
          <p:cNvPr id="20" name="Shape 18"/>
          <p:cNvSpPr/>
          <p:nvPr/>
        </p:nvSpPr>
        <p:spPr>
          <a:xfrm>
            <a:off x="762000" y="50038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E8EBF2"/>
          </a:solidFill>
          <a:ln/>
        </p:spPr>
      </p:sp>
      <p:sp>
        <p:nvSpPr>
          <p:cNvPr id="21" name="Shape 19"/>
          <p:cNvSpPr/>
          <p:nvPr/>
        </p:nvSpPr>
        <p:spPr>
          <a:xfrm>
            <a:off x="762000" y="5003800"/>
            <a:ext cx="63500" cy="10160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/>
              <p:cNvSpPr/>
              <p:nvPr/>
            </p:nvSpPr>
            <p:spPr>
              <a:xfrm>
                <a:off x="1079500" y="5130800"/>
                <a:ext cx="14097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Total Variance:</a:t>
                </a:r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T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limUpp>
                        <m:limUppPr>
                          <m:ctrlP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8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</m:e>
                        <m:lim>
                          <m: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ˉ</m:t>
                          </m:r>
                        </m:lim>
                      </m:limUp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num>
                        <m:den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</m:den>
                      </m:f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B</m:t>
                      </m:r>
                    </m:oMath>
                  </m:oMathPara>
                </a14:m>
                <a:endParaRPr lang="en-US" sz="18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Total uncertainty = ordinary sampling uncertainty + missing-data uncertainty</a:t>
                </a:r>
                <a:endParaRPr lang="en-US" sz="1800" dirty="0"/>
              </a:p>
            </p:txBody>
          </p:sp>
        </mc:Choice>
        <mc:Fallback xmlns="">
          <p:sp>
            <p:nvSpPr>
              <p:cNvPr id="22" name="Text 20"/>
              <p:cNvSpPr/>
              <p:nvPr/>
            </p:nvSpPr>
            <p:spPr>
              <a:xfrm>
                <a:off x="1079500" y="5130800"/>
                <a:ext cx="14097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Total Variance:</a:t>
                </a:r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T = \bar{U} + \left(1 + \frac{1}{m}\right) B \)</a:t>
                </a:r>
                <a:endParaRPr lang="en-US" sz="18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Total uncertainty = ordinary sampling uncertainty + missing-data uncertainty</a:t>
                </a:r>
                <a:endParaRPr lang="en-US" sz="1800" dirty="0"/>
              </a:p>
            </p:txBody>
          </p:sp>
        </mc:Fallback>
      </mc:AlternateContent>
      <p:sp>
        <p:nvSpPr>
          <p:cNvPr id="23" name="Text 21"/>
          <p:cNvSpPr/>
          <p:nvPr/>
        </p:nvSpPr>
        <p:spPr>
          <a:xfrm>
            <a:off x="762000" y="62738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the mathematical center of MI inference.</a:t>
            </a:r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これがMI推論の数学的中心。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29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36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Pooled Point Estimate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プールされた点推定値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8542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simplest Rubin rule: the arithmetic mean of parameter estimates across the m imputed datasets. If each dataset represents one plausible reality, the pooled estimate is the average conclusion.</a:t>
            </a:r>
            <a:endParaRPr lang="en-US" sz="15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m個の代入データセットの推定値の算術平均。最も簡単なRubinルール。</a:t>
            </a:r>
            <a:endParaRPr lang="en-US" sz="15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895600"/>
          <a:ext cx="8890000" cy="2286000"/>
        </p:xfrm>
        <a:graphic>
          <a:graphicData uri="http://schemas.openxmlformats.org/drawingml/2006/table">
            <a:tbl>
              <a:tblPr/>
              <a:tblGrid>
                <a:gridCol w="1778000"/>
                <a:gridCol w="1422400"/>
                <a:gridCol w="1422400"/>
                <a:gridCol w="1422400"/>
                <a:gridCol w="1422400"/>
                <a:gridCol w="14224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Dataset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D_1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D_2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D_3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D_4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D_5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Q_hat_j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0.40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0.45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0.43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0.38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0.44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SE_j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U_j = SE^2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0.0100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0.0121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0.0100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0.0144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0.0121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762000" y="53848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E8EBF2"/>
          </a:solidFill>
          <a:ln/>
        </p:spPr>
      </p:sp>
      <p:sp>
        <p:nvSpPr>
          <p:cNvPr id="16" name="Shape 13"/>
          <p:cNvSpPr/>
          <p:nvPr/>
        </p:nvSpPr>
        <p:spPr>
          <a:xfrm>
            <a:off x="762000" y="5384800"/>
            <a:ext cx="63500" cy="12700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4"/>
              <p:cNvSpPr/>
              <p:nvPr/>
            </p:nvSpPr>
            <p:spPr>
              <a:xfrm>
                <a:off x="1079500" y="5511800"/>
                <a:ext cx="14097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8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Q</m:t>
                          </m:r>
                        </m:e>
                        <m:lim>
                          <m: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ˉ</m:t>
                          </m:r>
                        </m:lim>
                      </m:limUp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num>
                        <m:den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</m:den>
                      </m:f>
                      <m:sSubSup>
                        <m:sSub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=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</m:sup>
                      </m:sSubSup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UppPr>
                            <m:e>
                              <m:r>
                                <a:rPr lang="en-US" sz="13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Q</m:t>
                              </m:r>
                            </m:e>
                            <m:lim>
                              <m: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^</m:t>
                              </m:r>
                            </m:lim>
                          </m:limUpp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0.40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+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0.45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+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0.43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+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0.38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+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0.44</m:t>
                          </m:r>
                        </m:num>
                        <m:den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5</m:t>
                          </m:r>
                        </m:den>
                      </m:f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b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0.42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The pooled estimate is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0.42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— the final reported coefficient. Averaging estimates is easy; the standard error is the serious part.</a:t>
                </a:r>
                <a:endParaRPr lang="en-US" sz="1800" dirty="0"/>
              </a:p>
            </p:txBody>
          </p:sp>
        </mc:Choice>
        <mc:Fallback xmlns="">
          <p:sp>
            <p:nvSpPr>
              <p:cNvPr id="17" name="Text 14"/>
              <p:cNvSpPr/>
              <p:nvPr/>
            </p:nvSpPr>
            <p:spPr>
              <a:xfrm>
                <a:off x="1079500" y="5511800"/>
                <a:ext cx="14097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\bar{Q} = \frac{1}{m} \sum_{j=1}^m \hat{Q}_j = \frac{0.40 + 0.45 + 0.43 + 0.38 + 0.44}{5} = \mathbf{0.42}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The pooled estimate is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0.42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— the final reported coefficient. Averaging estimates is easy; the standard error is the serious part.</a:t>
                </a:r>
                <a:endParaRPr lang="en-US" sz="1800" dirty="0"/>
              </a:p>
            </p:txBody>
          </p:sp>
        </mc:Fallback>
      </mc:AlternateContent>
      <p:sp>
        <p:nvSpPr>
          <p:cNvPr id="18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36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Within-Imputation Variance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代入内分散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762000" y="1854200"/>
                <a:ext cx="14732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45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Within-imputation variance is the </a:t>
                </a:r>
                <a:pPr algn="l">
                  <a:lnSpc>
                    <a:spcPct val="145000"/>
                  </a:lnSpc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ordinary complete-data uncertainty</a:t>
                </a:r>
                <a:pPr algn="l">
                  <a:lnSpc>
                    <a:spcPct val="145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. Each completed dataset is analyzed normally, giving a standard error. Squaring and averaging gives </a:t>
                </a:r>
                <a:pPr algn="l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en-US" sz="15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5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</m:e>
                        <m:lim>
                          <m:r>
                            <a:rPr lang="en-US" sz="15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ˉ</m:t>
                          </m:r>
                        </m:lim>
                      </m:limUpp>
                    </m:oMath>
                  </m:oMathPara>
                </a14:m>
                <a:pPr algn="l">
                  <a:lnSpc>
                    <a:spcPct val="145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.</a:t>
                </a:r>
                <a:endParaRPr lang="en-US" sz="1500" dirty="0"/>
              </a:p>
              <a:p>
                <a:pPr algn="l">
                  <a:lnSpc>
                    <a:spcPct val="145000"/>
                  </a:lnSpc>
                </a:pPr>
                <a:r>
                  <a:rPr lang="en-US" sz="13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代入内分散は、通常の完全データ不確実性。標準誤差を2乗して平均する。</a:t>
                </a:r>
                <a:endParaRPr lang="en-US" sz="1500" dirty="0"/>
              </a:p>
            </p:txBody>
          </p:sp>
        </mc:Choice>
        <mc:Fallback xmlns="">
          <p:sp>
            <p:nvSpPr>
              <p:cNvPr id="13" name="Text 11"/>
              <p:cNvSpPr/>
              <p:nvPr/>
            </p:nvSpPr>
            <p:spPr>
              <a:xfrm>
                <a:off x="762000" y="1854200"/>
                <a:ext cx="14732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45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Within-imputation variance is the </a:t>
                </a:r>
                <a:pPr algn="l">
                  <a:lnSpc>
                    <a:spcPct val="145000"/>
                  </a:lnSpc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ordinary complete-data uncertainty</a:t>
                </a:r>
                <a:pPr algn="l">
                  <a:lnSpc>
                    <a:spcPct val="145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. Each completed dataset is analyzed normally, giving a standard error. Squaring and averaging gives </a:t>
                </a:r>
                <a:pPr algn="l">
                  <a:lnSpc>
                    <a:spcPct val="145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\bar{U} \)</a:t>
                </a:r>
                <a:pPr algn="l">
                  <a:lnSpc>
                    <a:spcPct val="145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.</a:t>
                </a:r>
                <a:endParaRPr lang="en-US" sz="1500" dirty="0"/>
              </a:p>
              <a:p>
                <a:pPr algn="l">
                  <a:lnSpc>
                    <a:spcPct val="145000"/>
                  </a:lnSpc>
                </a:pPr>
                <a:r>
                  <a:rPr lang="en-US" sz="13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代入内分散は、通常の完全データ不確実性。標準誤差を2乗して平均する。</a:t>
                </a:r>
                <a:endParaRPr lang="en-US" sz="1500" dirty="0"/>
              </a:p>
            </p:txBody>
          </p:sp>
        </mc:Fallback>
      </mc:AlternateContent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971800"/>
          <a:ext cx="8890000" cy="2286000"/>
        </p:xfrm>
        <a:graphic>
          <a:graphicData uri="http://schemas.openxmlformats.org/drawingml/2006/table">
            <a:tbl>
              <a:tblPr/>
              <a:tblGrid>
                <a:gridCol w="1778000"/>
                <a:gridCol w="1422400"/>
                <a:gridCol w="1422400"/>
                <a:gridCol w="1422400"/>
                <a:gridCol w="1422400"/>
                <a:gridCol w="14224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Dataset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D_1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D_2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D_3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D_4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D_5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SE_j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U_j = SE_j^2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0.0100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0.0121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0.0100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0.0144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0.0121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U_bar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7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0.01172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762000" y="5511800"/>
            <a:ext cx="14732000" cy="1143000"/>
          </a:xfrm>
          <a:prstGeom prst="roundRect">
            <a:avLst>
              <a:gd name="adj" fmla="val 4000"/>
            </a:avLst>
          </a:prstGeom>
          <a:solidFill>
            <a:srgbClr val="E8EBF2"/>
          </a:solidFill>
          <a:ln/>
        </p:spPr>
      </p:sp>
      <p:sp>
        <p:nvSpPr>
          <p:cNvPr id="16" name="Shape 13"/>
          <p:cNvSpPr/>
          <p:nvPr/>
        </p:nvSpPr>
        <p:spPr>
          <a:xfrm>
            <a:off x="762000" y="5511800"/>
            <a:ext cx="63500" cy="11430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4"/>
              <p:cNvSpPr/>
              <p:nvPr/>
            </p:nvSpPr>
            <p:spPr>
              <a:xfrm>
                <a:off x="1079500" y="5638800"/>
                <a:ext cx="14097000" cy="88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bSup>
                        <m:sSub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SE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</m:sub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  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8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</m:e>
                        <m:lim>
                          <m: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ˉ</m:t>
                          </m:r>
                        </m:lim>
                      </m:limUp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num>
                        <m:den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</m:den>
                      </m:f>
                      <m:sSubSup>
                        <m:sSub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=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</m:sup>
                      </m:sSubSup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0.0100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+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0.0121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+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0.0100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+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0.0144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+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0.0121</m:t>
                          </m:r>
                        </m:num>
                        <m:den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5</m:t>
                          </m:r>
                        </m:den>
                      </m:f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b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0.01172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en-US" sz="15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5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</m:e>
                        <m:lim>
                          <m:r>
                            <a:rPr lang="en-US" sz="15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ˉ</m:t>
                          </m:r>
                        </m:lim>
                      </m:limUpp>
                    </m:oMath>
                  </m:oMathPara>
                </a14:m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answers: even if missing values in each dataset were treated as fixed, how much sampling uncertainty would remain?</a:t>
                </a:r>
                <a:endParaRPr lang="en-US" sz="1800" dirty="0"/>
              </a:p>
            </p:txBody>
          </p:sp>
        </mc:Choice>
        <mc:Fallback xmlns="">
          <p:sp>
            <p:nvSpPr>
              <p:cNvPr id="17" name="Text 14"/>
              <p:cNvSpPr/>
              <p:nvPr/>
            </p:nvSpPr>
            <p:spPr>
              <a:xfrm>
                <a:off x="1079500" y="5638800"/>
                <a:ext cx="14097000" cy="88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U_j = \text{SE}_j^2 \)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  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\bar{U} = \frac{1}{m} \sum_{j=1}^m U_j = \frac{0.0100 + 0.0121 + 0.0100 + 0.0144 + 0.0121}{5} = \mathbf{0.01172}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\bar{U} \)</a:t>
                </a:r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answers: even if missing values in each dataset were treated as fixed, how much sampling uncertainty would remain?</a:t>
                </a:r>
                <a:endParaRPr lang="en-US" sz="1800" dirty="0"/>
              </a:p>
            </p:txBody>
          </p:sp>
        </mc:Fallback>
      </mc:AlternateContent>
      <p:sp>
        <p:nvSpPr>
          <p:cNvPr id="18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31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36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Between-Imputation Variance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代入間分散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8542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Between-imputation variance measures </a:t>
            </a:r>
            <a:pPr algn="l">
              <a:lnSpc>
                <a:spcPct val="145000"/>
              </a:lnSpc>
            </a:pPr>
            <a:r>
              <a:rPr lang="en-US" sz="15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disagreement among estimates</a:t>
            </a:r>
            <a:pPr algn="l">
              <a:lnSpc>
                <a:spcPct val="145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different imputed datasets. It is the mathematical representation of missing-data uncertainty.</a:t>
            </a:r>
            <a:endParaRPr lang="en-US" sz="15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代入間分散は、異なる代入データセットからの推定値の不一致を測る。欠測データ不確実性の数学的表現。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2000" y="2946400"/>
            <a:ext cx="7620000" cy="2540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3048000"/>
            <a:ext cx="711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Estimates Scattered Around Mean (Q_bar = 0.42)</a:t>
            </a:r>
            <a:endParaRPr lang="en-US" sz="16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62000" y="3403600"/>
          <a:ext cx="7620000" cy="190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8636000" y="2946400"/>
            <a:ext cx="6858000" cy="2540000"/>
          </a:xfrm>
          <a:prstGeom prst="roundRect">
            <a:avLst>
              <a:gd name="adj" fmla="val 5000"/>
            </a:avLst>
          </a:prstGeom>
          <a:solidFill>
            <a:srgbClr val="E8EBF2"/>
          </a:solidFill>
          <a:ln/>
        </p:spPr>
      </p:sp>
      <p:sp>
        <p:nvSpPr>
          <p:cNvPr id="18" name="Shape 15"/>
          <p:cNvSpPr/>
          <p:nvPr/>
        </p:nvSpPr>
        <p:spPr>
          <a:xfrm>
            <a:off x="8636000" y="2946400"/>
            <a:ext cx="63500" cy="25400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6"/>
              <p:cNvSpPr/>
              <p:nvPr/>
            </p:nvSpPr>
            <p:spPr>
              <a:xfrm>
                <a:off x="8953500" y="3098800"/>
                <a:ext cx="6286500" cy="2235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B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num>
                        <m:den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den>
                      </m:f>
                      <m:sSubSup>
                        <m:sSub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=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</m:sup>
                      </m:sSub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UppPr>
                            <m:e>
                              <m:r>
                                <a:rPr lang="en-US" sz="13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Q</m:t>
                              </m:r>
                            </m:e>
                            <m:lim>
                              <m: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^</m:t>
                              </m:r>
                            </m:lim>
                          </m:limUpp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limUpp>
                        <m:limUppPr>
                          <m:ctrlP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8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Q</m:t>
                          </m:r>
                        </m:e>
                        <m:lim>
                          <m:r>
                            <a:rPr lang="en-US" sz="18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ˉ</m:t>
                          </m:r>
                        </m:lim>
                      </m:limUpp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Example: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B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num>
                        <m:den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4</m:t>
                          </m:r>
                        </m:den>
                      </m:f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[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0.40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0.42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0.45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0.42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0.43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0.42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0.38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0.42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0.44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0.42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]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B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num>
                        <m:den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4</m:t>
                          </m:r>
                        </m:den>
                      </m:f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[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0.0004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0.0009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0.0001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0.0016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0.0004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]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b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0.00085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9" name="Text 16"/>
              <p:cNvSpPr/>
              <p:nvPr/>
            </p:nvSpPr>
            <p:spPr>
              <a:xfrm>
                <a:off x="8953500" y="3098800"/>
                <a:ext cx="6286500" cy="2235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B = \frac{1}{m-1} \sum_{j=1}^m (\hat{Q}_j - \bar{Q})^2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Example: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B = \frac{1}{4}[(0.40-0.42)^2 + (0.45-0.42)^2 + (0.43-0.42)^2 + (0.38-0.42)^2 + (0.44-0.42)^2]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B = \frac{1}{4}[0.0004 + 0.0009 + 0.0001 + 0.0016 + 0.0004] = \mathbf{0.00085} \)</a:t>
                </a:r>
                <a:endParaRPr lang="en-US" sz="1800" dirty="0"/>
              </a:p>
            </p:txBody>
          </p:sp>
        </mc:Fallback>
      </mc:AlternateContent>
      <p:sp>
        <p:nvSpPr>
          <p:cNvPr id="20" name="Shape 17"/>
          <p:cNvSpPr/>
          <p:nvPr/>
        </p:nvSpPr>
        <p:spPr>
          <a:xfrm>
            <a:off x="762000" y="57150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21" name="Text 18"/>
          <p:cNvSpPr/>
          <p:nvPr/>
        </p:nvSpPr>
        <p:spPr>
          <a:xfrm>
            <a:off x="1079500" y="58166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 is the disagreement between plausible worlds."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Bはplausible worlds間の不一致。Bが大きいほど、欠測データが結論に与える影響が大きい。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36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Variance &amp; MI Standard Error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総分散とMI標準誤差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8542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2D3A5C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1079500" y="1981200"/>
                <a:ext cx="14097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T</m:t>
                      </m:r>
                      <m:r>
                        <a:rPr lang="en-US" sz="22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limUpp>
                        <m:limUppPr>
                          <m:ctrlPr>
                            <a:rPr lang="en-US" sz="2200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2200" i="1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</m:e>
                        <m:lim>
                          <m:r>
                            <a:rPr lang="en-US" sz="2200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ˉ</m:t>
                          </m:r>
                        </m:lim>
                      </m:limUpp>
                      <m:r>
                        <a:rPr lang="en-US" sz="22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22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22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22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num>
                        <m:den>
                          <m:r>
                            <a:rPr lang="en-US" sz="1500" i="1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</m:den>
                      </m:f>
                      <m:r>
                        <a:rPr lang="en-US" sz="22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2200" i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B</m:t>
                      </m:r>
                    </m:oMath>
                  </m:oMathPara>
                </a14:m>
                <a:pPr algn="ctr">
                  <a:lnSpc>
                    <a:spcPct val="120000"/>
                  </a:lnSpc>
                </a:pPr>
                <a:r>
                  <a:rPr lang="en-US" sz="22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  and  </a:t>
                </a:r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500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SE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500" i="1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sub>
                      </m:sSub>
                      <m:r>
                        <a:rPr lang="en-US" sz="22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ad>
                        <m:deg/>
                        <m:e>
                          <m:r>
                            <a:rPr lang="en-US" sz="1500" i="1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T</m:t>
                          </m:r>
                        </m:e>
                      </m:rad>
                    </m:oMath>
                  </m:oMathPara>
                </a14:m>
                <a:endParaRPr lang="en-US" sz="2200" dirty="0"/>
              </a:p>
              <a:p>
                <a:pPr algn="ctr">
                  <a:lnSpc>
                    <a:spcPct val="12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Total uncertainty = ordinary sampling uncertainty + missing-data uncertainty</a:t>
                </a:r>
                <a:endParaRPr lang="en-US" sz="2200" dirty="0"/>
              </a:p>
            </p:txBody>
          </p:sp>
        </mc:Choice>
        <mc:Fallback xmlns="">
          <p:sp>
            <p:nvSpPr>
              <p:cNvPr id="14" name="Text 12"/>
              <p:cNvSpPr/>
              <p:nvPr/>
            </p:nvSpPr>
            <p:spPr>
              <a:xfrm>
                <a:off x="1079500" y="1981200"/>
                <a:ext cx="14097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22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T = \bar{U} + \left(1 + \frac{1}{m}\right) B \)</a:t>
                </a:r>
                <a:pPr algn="ctr">
                  <a:lnSpc>
                    <a:spcPct val="120000"/>
                  </a:lnSpc>
                </a:pPr>
                <a:r>
                  <a:rPr lang="en-US" sz="22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  and  </a:t>
                </a:r>
                <a:pPr algn="ctr">
                  <a:lnSpc>
                    <a:spcPct val="120000"/>
                  </a:lnSpc>
                </a:pPr>
                <a:r>
                  <a:rPr lang="en-US" sz="22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\text{SE}_{MI} = \sqrt{T} \)</a:t>
                </a:r>
                <a:endParaRPr lang="en-US" sz="2200" dirty="0"/>
              </a:p>
              <a:p>
                <a:pPr algn="ctr">
                  <a:lnSpc>
                    <a:spcPct val="12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Total uncertainty = ordinary sampling uncertainty + missing-data uncertainty</a:t>
                </a:r>
                <a:endParaRPr lang="en-US" sz="2200" dirty="0"/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762000" y="3429000"/>
            <a:ext cx="4699000" cy="19685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3429000"/>
            <a:ext cx="4699000" cy="63500"/>
          </a:xfrm>
          <a:prstGeom prst="rect">
            <a:avLst/>
          </a:prstGeom>
          <a:solidFill>
            <a:srgbClr val="2D3A5C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/>
              <p:nvPr/>
            </p:nvSpPr>
            <p:spPr>
              <a:xfrm>
                <a:off x="990600" y="3632200"/>
                <a:ext cx="4241800" cy="1676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Within variance</a:t>
                </a:r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代入内分散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en-US" sz="16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6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</m:e>
                        <m:lim>
                          <m:r>
                            <a:rPr lang="en-US" sz="16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ˉ</m:t>
                          </m:r>
                        </m:lim>
                      </m:limUpp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0.01172</m:t>
                      </m:r>
                    </m:oMath>
                  </m:oMathPara>
                </a14:m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Ordinary sampling uncertainty averaged across datasets</a:t>
                </a:r>
                <a:endParaRPr lang="en-US" sz="1600" dirty="0"/>
              </a:p>
            </p:txBody>
          </p:sp>
        </mc:Choice>
        <mc:Fallback xmlns="">
          <p:sp>
            <p:nvSpPr>
              <p:cNvPr id="17" name="Text 15"/>
              <p:cNvSpPr/>
              <p:nvPr/>
            </p:nvSpPr>
            <p:spPr>
              <a:xfrm>
                <a:off x="990600" y="3632200"/>
                <a:ext cx="4241800" cy="1676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Within variance</a:t>
                </a:r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代入内分散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\bar{U} = 0.01172 \)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Ordinary sampling uncertainty averaged across datasets</a:t>
                </a:r>
                <a:endParaRPr lang="en-US" sz="1600" dirty="0"/>
              </a:p>
            </p:txBody>
          </p:sp>
        </mc:Fallback>
      </mc:AlternateContent>
      <p:sp>
        <p:nvSpPr>
          <p:cNvPr id="18" name="Shape 16"/>
          <p:cNvSpPr/>
          <p:nvPr/>
        </p:nvSpPr>
        <p:spPr>
          <a:xfrm>
            <a:off x="5715000" y="3429000"/>
            <a:ext cx="4699000" cy="19685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0" y="3429000"/>
            <a:ext cx="4699000" cy="635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8"/>
              <p:cNvSpPr/>
              <p:nvPr/>
            </p:nvSpPr>
            <p:spPr>
              <a:xfrm>
                <a:off x="5943600" y="3632200"/>
                <a:ext cx="4241800" cy="1676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Between variance</a:t>
                </a:r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代入間分散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/</m:t>
                      </m:r>
                      <m:r>
                        <a:rPr lang="en-US" sz="16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m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6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B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1.2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×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0.00085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0.00102</m:t>
                      </m:r>
                    </m:oMath>
                  </m:oMathPara>
                </a14:m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Missing-data uncertainty inflated by finite m correction</a:t>
                </a:r>
                <a:endParaRPr lang="en-US" sz="1600" dirty="0"/>
              </a:p>
            </p:txBody>
          </p:sp>
        </mc:Choice>
        <mc:Fallback xmlns="">
          <p:sp>
            <p:nvSpPr>
              <p:cNvPr id="20" name="Text 18"/>
              <p:cNvSpPr/>
              <p:nvPr/>
            </p:nvSpPr>
            <p:spPr>
              <a:xfrm>
                <a:off x="5943600" y="3632200"/>
                <a:ext cx="4241800" cy="1676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Between variance</a:t>
                </a:r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代入間分散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(1 + 1/m)B = 1.2 \times 0.00085 = 0.00102 \)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Missing-data uncertainty inflated by finite m correction</a:t>
                </a:r>
                <a:endParaRPr lang="en-US" sz="1600" dirty="0"/>
              </a:p>
            </p:txBody>
          </p:sp>
        </mc:Fallback>
      </mc:AlternateContent>
      <p:sp>
        <p:nvSpPr>
          <p:cNvPr id="21" name="Shape 19"/>
          <p:cNvSpPr/>
          <p:nvPr/>
        </p:nvSpPr>
        <p:spPr>
          <a:xfrm>
            <a:off x="10668000" y="3429000"/>
            <a:ext cx="4826000" cy="19685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68000" y="3429000"/>
            <a:ext cx="4826000" cy="63500"/>
          </a:xfrm>
          <a:prstGeom prst="rect">
            <a:avLst/>
          </a:prstGeom>
          <a:solidFill>
            <a:srgbClr val="4A7C59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1"/>
              <p:cNvSpPr/>
              <p:nvPr/>
            </p:nvSpPr>
            <p:spPr>
              <a:xfrm>
                <a:off x="10896600" y="3632200"/>
                <a:ext cx="4368800" cy="1447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Total / SE</a:t>
                </a:r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総分散と標準誤差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T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0.01172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0.00102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0.01274</m:t>
                      </m:r>
                    </m:oMath>
                  </m:oMathPara>
                </a14:m>
                <a:endParaRPr lang="en-US" sz="160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SE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ad>
                        <m:deg/>
                        <m:e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0.01274</m:t>
                          </m:r>
                        </m:e>
                      </m:rad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600" b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0.113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 21"/>
              <p:cNvSpPr/>
              <p:nvPr/>
            </p:nvSpPr>
            <p:spPr>
              <a:xfrm>
                <a:off x="10896600" y="3632200"/>
                <a:ext cx="4368800" cy="1447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Total / SE</a:t>
                </a:r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総分散と標準誤差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T = 0.01172 + 0.00102 = 0.01274 \)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\text{SE}_{MI} = \sqrt{0.01274} = \mathbf{0.113} \)</a:t>
                </a:r>
                <a:endParaRPr lang="en-US" sz="1600" dirty="0"/>
              </a:p>
            </p:txBody>
          </p:sp>
        </mc:Fallback>
      </mc:AlternateContent>
      <p:sp>
        <p:nvSpPr>
          <p:cNvPr id="24" name="Shape 22"/>
          <p:cNvSpPr/>
          <p:nvPr/>
        </p:nvSpPr>
        <p:spPr>
          <a:xfrm>
            <a:off x="762000" y="54610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E8EBF2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23"/>
              <p:cNvSpPr/>
              <p:nvPr/>
            </p:nvSpPr>
            <p:spPr>
              <a:xfrm>
                <a:off x="1079500" y="5588000"/>
                <a:ext cx="14097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T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0.01172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1.2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0.00085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0.01172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0.00102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0.01274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SE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ad>
                        <m:deg/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T</m:t>
                          </m:r>
                        </m:e>
                      </m:rad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ad>
                        <m:deg/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0.01274</m:t>
                          </m:r>
                        </m:e>
                      </m:rad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≈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0.113</m:t>
                      </m:r>
                    </m:oMath>
                  </m:oMathPara>
                </a14:m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— this is larger than merely averaging SEs because it includes missing-data uncertainty.</a:t>
                </a:r>
                <a:endParaRPr lang="en-US" sz="1800" dirty="0"/>
              </a:p>
            </p:txBody>
          </p:sp>
        </mc:Choice>
        <mc:Fallback xmlns="">
          <p:sp>
            <p:nvSpPr>
              <p:cNvPr id="25" name="Text 23"/>
              <p:cNvSpPr/>
              <p:nvPr/>
            </p:nvSpPr>
            <p:spPr>
              <a:xfrm>
                <a:off x="1079500" y="5588000"/>
                <a:ext cx="14097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T = 0.01172 + 1.2(0.00085) = 0.01172 + 0.00102 = 0.01274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\text{SE}_{MI} = \sqrt{T} = \sqrt{0.01274} \approx 0.113 \)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— this is larger than merely averaging SEs because it includes missing-data uncertainty.</a:t>
                </a:r>
                <a:endParaRPr lang="en-US" sz="1800" dirty="0"/>
              </a:p>
            </p:txBody>
          </p:sp>
        </mc:Fallback>
      </mc:AlternateContent>
      <p:sp>
        <p:nvSpPr>
          <p:cNvPr id="26" name="Shape 24"/>
          <p:cNvSpPr/>
          <p:nvPr/>
        </p:nvSpPr>
        <p:spPr>
          <a:xfrm>
            <a:off x="762000" y="6985000"/>
            <a:ext cx="14732000" cy="762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1079500" y="70866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the most important formula slide.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interpretation is unavoidable: total uncertainty has two sources.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総不確実性には2つの源泉がある。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36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270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Not Just Average the Standard Errors?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なぜ標準誤差を平均するだけではダメか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854200"/>
            <a:ext cx="7112000" cy="2540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19812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Scenario A: Stable Estimates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16000" y="2413000"/>
            <a:ext cx="660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Estimates: 0.40, 0.41, 0.40, 0.39, 0.40 (all close)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SEs: 0.10, 0.10, 0.10, 0.10, 0.10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SE ≈ 0.10, Rubin SE ≈ 0.10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methods agree — low missing-data uncertainty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28000" y="1854200"/>
            <a:ext cx="7366000" cy="2540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19812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Scenario B: Unstable Estimates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82000" y="2413000"/>
            <a:ext cx="6858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Estimates: -1, 0, 1, 2, 3 (wildly different)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SEs: 0.10, 0.10, 0.10, 0.10, 0.10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SE ≈ 0.10, but Rubin SE &gt;&gt; 0.10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Averaging SEs hides the problem!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62000" y="4648200"/>
            <a:ext cx="7112000" cy="1460500"/>
          </a:xfrm>
          <a:prstGeom prst="roundRect">
            <a:avLst>
              <a:gd name="adj" fmla="val 5000"/>
            </a:avLst>
          </a:prstGeom>
          <a:solidFill>
            <a:srgbClr val="F5E6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4648200"/>
            <a:ext cx="63500" cy="1460500"/>
          </a:xfrm>
          <a:prstGeom prst="rect">
            <a:avLst/>
          </a:prstGeom>
          <a:solidFill>
            <a:srgbClr val="C0392B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19"/>
              <p:cNvSpPr/>
              <p:nvPr/>
            </p:nvSpPr>
            <p:spPr>
              <a:xfrm>
                <a:off x="1079500" y="4775200"/>
                <a:ext cx="6540500" cy="1206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C0392B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WRONG:</a:t>
                </a:r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SE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f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n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a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l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average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SE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Ignores the movement of the estimate across imputations. The SEs inside datasets don't know that missing values changed.</a:t>
                </a:r>
                <a:endParaRPr lang="en-US" sz="1600" dirty="0"/>
              </a:p>
            </p:txBody>
          </p:sp>
        </mc:Choice>
        <mc:Fallback xmlns="">
          <p:sp>
            <p:nvSpPr>
              <p:cNvPr id="21" name="Text 19"/>
              <p:cNvSpPr/>
              <p:nvPr/>
            </p:nvSpPr>
            <p:spPr>
              <a:xfrm>
                <a:off x="1079500" y="4775200"/>
                <a:ext cx="6540500" cy="1206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C0392B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WRONG:</a:t>
                </a:r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\text{SE}_{final} = \text{average}(\text{SE}_j) \)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Ignores the movement of the estimate across imputations. The SEs inside datasets don't know that missing values changed.</a:t>
                </a:r>
                <a:endParaRPr lang="en-US" sz="1600" dirty="0"/>
              </a:p>
            </p:txBody>
          </p:sp>
        </mc:Fallback>
      </mc:AlternateContent>
      <p:sp>
        <p:nvSpPr>
          <p:cNvPr id="22" name="Shape 20"/>
          <p:cNvSpPr/>
          <p:nvPr/>
        </p:nvSpPr>
        <p:spPr>
          <a:xfrm>
            <a:off x="8128000" y="4648200"/>
            <a:ext cx="7366000" cy="1460500"/>
          </a:xfrm>
          <a:prstGeom prst="roundRect">
            <a:avLst>
              <a:gd name="adj" fmla="val 5000"/>
            </a:avLst>
          </a:prstGeom>
          <a:solidFill>
            <a:srgbClr val="E6F5E6"/>
          </a:solidFill>
          <a:ln/>
        </p:spPr>
      </p:sp>
      <p:sp>
        <p:nvSpPr>
          <p:cNvPr id="23" name="Shape 21"/>
          <p:cNvSpPr/>
          <p:nvPr/>
        </p:nvSpPr>
        <p:spPr>
          <a:xfrm>
            <a:off x="8128000" y="4648200"/>
            <a:ext cx="63500" cy="1460500"/>
          </a:xfrm>
          <a:prstGeom prst="rect">
            <a:avLst/>
          </a:prstGeom>
          <a:solidFill>
            <a:srgbClr val="4A7C59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/>
              <p:cNvSpPr/>
              <p:nvPr/>
            </p:nvSpPr>
            <p:spPr>
              <a:xfrm>
                <a:off x="8445500" y="4775200"/>
                <a:ext cx="6794500" cy="1206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4A7C59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CORRECT:</a:t>
                </a:r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T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limUpp>
                        <m:limUppPr>
                          <m:ctrlPr>
                            <a:rPr lang="en-US" sz="16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6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</m:e>
                        <m:lim>
                          <m:r>
                            <a:rPr lang="en-US" sz="16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ˉ</m:t>
                          </m:r>
                        </m:lim>
                      </m:limUpp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/</m:t>
                      </m:r>
                      <m:r>
                        <a:rPr lang="en-US" sz="16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m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6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B</m:t>
                      </m:r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;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SE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ad>
                        <m:deg/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T</m:t>
                          </m:r>
                        </m:e>
                      </m:rad>
                    </m:oMath>
                  </m:oMathPara>
                </a14:m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Pools variances, separates within and between components, then takes the square root of total variance.</a:t>
                </a:r>
                <a:endParaRPr lang="en-US" sz="1600" dirty="0"/>
              </a:p>
            </p:txBody>
          </p:sp>
        </mc:Choice>
        <mc:Fallback xmlns="">
          <p:sp>
            <p:nvSpPr>
              <p:cNvPr id="24" name="Text 22"/>
              <p:cNvSpPr/>
              <p:nvPr/>
            </p:nvSpPr>
            <p:spPr>
              <a:xfrm>
                <a:off x="8445500" y="4775200"/>
                <a:ext cx="6794500" cy="1206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4A7C59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CORRECT:</a:t>
                </a:r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T = \bar{U} + (1 + 1/m)B \)</a:t>
                </a:r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; </a:t>
                </a:r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\text{SE}_{MI} = \sqrt{T} \)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Pools variances, separates within and between components, then takes the square root of total variance.</a:t>
                </a:r>
                <a:endParaRPr lang="en-US" sz="1600" dirty="0"/>
              </a:p>
            </p:txBody>
          </p:sp>
        </mc:Fallback>
      </mc:AlternateContent>
      <p:sp>
        <p:nvSpPr>
          <p:cNvPr id="25" name="Shape 23"/>
          <p:cNvSpPr/>
          <p:nvPr/>
        </p:nvSpPr>
        <p:spPr>
          <a:xfrm>
            <a:off x="762000" y="62992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1079500" y="64008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standard errors inside datasets do not know that the missing values changed across datasets."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データセット内の標準誤差は、データセット間で欠測値が変化したことを知らない。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34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36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270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Test Statistic &amp; Degrees of Freedom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MIの検定統計量と自由度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854200"/>
            <a:ext cx="14732000" cy="889000"/>
          </a:xfrm>
          <a:prstGeom prst="roundRect">
            <a:avLst>
              <a:gd name="adj" fmla="val 4000"/>
            </a:avLst>
          </a:prstGeom>
          <a:solidFill>
            <a:srgbClr val="E8EBF2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1079500" y="1981200"/>
                <a:ext cx="14097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t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limUpp>
                            <m:limUppPr>
                              <m:ctrlP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UppPr>
                            <m:e>
                              <m:r>
                                <a:rPr lang="en-US" sz="13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Q</m:t>
                              </m:r>
                            </m:e>
                            <m:lim>
                              <m: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ˉ</m:t>
                              </m:r>
                            </m:lim>
                          </m:limUp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9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9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sz="9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ad>
                            <m:deg/>
                            <m:e>
                              <m:r>
                                <a:rPr lang="en-US" sz="9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T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  Example: </a:t>
                </a:r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t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0.42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</m:t>
                          </m:r>
                        </m:num>
                        <m:den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0.113</m:t>
                          </m:r>
                        </m:den>
                      </m:f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≈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3.72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4" name="Text 12"/>
              <p:cNvSpPr/>
              <p:nvPr/>
            </p:nvSpPr>
            <p:spPr>
              <a:xfrm>
                <a:off x="1079500" y="1981200"/>
                <a:ext cx="14097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t = \frac{\bar{Q} - Q_0}{\sqrt{T}} \)</a:t>
                </a:r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  Example: </a:t>
                </a:r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t = \frac{0.42 - 0}{0.113} \approx 3.72 \)</a:t>
                </a:r>
                <a:endParaRPr lang="en-US" sz="1800" dirty="0"/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762000" y="2997200"/>
            <a:ext cx="7112000" cy="2921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31242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Degrees of Freedom in MI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16000" y="3556000"/>
            <a:ext cx="6604000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ordinary regression, df comes from sample size. In MI, df </a:t>
            </a:r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also depends on B and m</a:t>
            </a:r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500" dirty="0"/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MIでは、自由度は標本サイズだけでなくBとmにも依存する。</a:t>
            </a:r>
            <a:endParaRPr lang="en-US" sz="1500" dirty="0"/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15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Stable</a:t>
            </a:r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 ≈ 0) → large df, t ≈ normal</a:t>
            </a:r>
            <a:endParaRPr lang="en-US" sz="1500" dirty="0"/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15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Unstable</a:t>
            </a:r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 large) → df → m-1, conservative</a:t>
            </a:r>
            <a:endParaRPr lang="en-US" sz="1500" dirty="0"/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150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disagreement → lower trust → lower df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28000" y="2997200"/>
            <a:ext cx="7366000" cy="30734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31242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"Five Witnesses" Analogy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82000" y="3632200"/>
            <a:ext cx="3302000" cy="1143000"/>
          </a:xfrm>
          <a:prstGeom prst="roundRect">
            <a:avLst>
              <a:gd name="adj" fmla="val 8000"/>
            </a:avLst>
          </a:prstGeom>
          <a:solidFill>
            <a:srgbClr val="E6F5E6"/>
          </a:solidFill>
          <a:ln/>
        </p:spPr>
      </p:sp>
      <p:sp>
        <p:nvSpPr>
          <p:cNvPr id="21" name="Text 19"/>
          <p:cNvSpPr/>
          <p:nvPr/>
        </p:nvSpPr>
        <p:spPr>
          <a:xfrm>
            <a:off x="8509000" y="3733800"/>
            <a:ext cx="304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Witnesses agree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Q: 0.421, 0.420, 0.422, 0.419, 0.421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 ≈ 0 → df large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1938000" y="3632200"/>
            <a:ext cx="3302000" cy="1143000"/>
          </a:xfrm>
          <a:prstGeom prst="roundRect">
            <a:avLst>
              <a:gd name="adj" fmla="val 8000"/>
            </a:avLst>
          </a:prstGeom>
          <a:solidFill>
            <a:srgbClr val="F5E6E6"/>
          </a:solidFill>
          <a:ln/>
        </p:spPr>
      </p:sp>
      <p:sp>
        <p:nvSpPr>
          <p:cNvPr id="23" name="Text 21"/>
          <p:cNvSpPr/>
          <p:nvPr/>
        </p:nvSpPr>
        <p:spPr>
          <a:xfrm>
            <a:off x="12065000" y="3733800"/>
            <a:ext cx="304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Witnesses disagree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Q: 0.10, 0.80, -0.20, 0.60, 1.10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 large → df small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82000" y="49530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missing-data uncertainty dominates, df approaches m-1 because B is estimated from only m estimates.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欠測データ不確実性が支配的な場合、dfはm-1に近づく。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2000" y="61722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1079500" y="62738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 is disagreement. More disagreement means lower trust, therefore lower df."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Bは不一致。不一致が多いほど信頼度が低く、自由度も低くなる。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36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FMI &amp; Number of Imputations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欠測情報率と代入回数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8542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E8EBF2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854200"/>
            <a:ext cx="63500" cy="12700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/>
              <p:cNvSpPr/>
              <p:nvPr/>
            </p:nvSpPr>
            <p:spPr>
              <a:xfrm>
                <a:off x="1079500" y="1981200"/>
                <a:ext cx="14097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Relative increase in variance: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r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+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/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B</m:t>
                          </m:r>
                        </m:num>
                        <m:den>
                          <m:limUpp>
                            <m:limUppPr>
                              <m:ctrlP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UppPr>
                            <m:e>
                              <m:r>
                                <a:rPr lang="en-US" sz="1300" i="1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U</m:t>
                              </m:r>
                            </m:e>
                            <m:lim>
                              <m:r>
                                <a:rPr lang="en-US" sz="1300" dirty="0">
                                  <a:solidFill>
                                    <a:srgbClr val="1E2330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ˉ</m:t>
                              </m:r>
                            </m:lim>
                          </m:limUpp>
                        </m:den>
                      </m:f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  </a:t>
                </a:r>
                <a:pPr algn="l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FMI: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≈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r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+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/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df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+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3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num>
                        <m:den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r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+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Relative efficiency: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≈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γ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/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m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</m:t>
                          </m:r>
                          <m: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  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FMI is parameter-specific, not dataset-wide. More missing information requires more imputations.</a:t>
                </a:r>
                <a:endParaRPr lang="en-US" sz="1800" dirty="0"/>
              </a:p>
            </p:txBody>
          </p:sp>
        </mc:Choice>
        <mc:Fallback xmlns="">
          <p:sp>
            <p:nvSpPr>
              <p:cNvPr id="15" name="Text 13"/>
              <p:cNvSpPr/>
              <p:nvPr/>
            </p:nvSpPr>
            <p:spPr>
              <a:xfrm>
                <a:off x="1079500" y="1981200"/>
                <a:ext cx="14097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Relative increase in variance: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r = \frac{(1 + 1/m)B}{\bar{U}} \)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  </a:t>
                </a:r>
                <a:pPr algn="l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FMI: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\approx \frac{r + 2/(\text{df}+3)}{r + 1} \)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Relative efficiency: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\approx (1 + \gamma/m)^{-1} \)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  </a:t>
                </a:r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FMI is parameter-specific, not dataset-wide. More missing information requires more imputations.</a:t>
                </a:r>
                <a:endParaRPr lang="en-US" sz="1800" dirty="0"/>
              </a:p>
            </p:txBody>
          </p:sp>
        </mc:Fallback>
      </mc:AlternateContent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403600"/>
          <a:ext cx="762000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2667000"/>
                <a:gridCol w="26670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FMI (gamma)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Suggested m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Efficiency at m=5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0.98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0.94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7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0.91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7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0.88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8636000" y="3403600"/>
            <a:ext cx="6858000" cy="2286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Text 15"/>
          <p:cNvSpPr/>
          <p:nvPr/>
        </p:nvSpPr>
        <p:spPr>
          <a:xfrm>
            <a:off x="8890000" y="3530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Points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890000" y="3962400"/>
            <a:ext cx="6350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Old advice: 3-5 imputations — can be misleading for power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Modern practice: </a:t>
            </a:r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 = 20-40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practical minimum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Increasing m does not create new information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It reduces Monte Carlo error and stabilizes inference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代入回数を増やしても新しい情報は生まれない。モンテカルロ誤差を減らす。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62000" y="59690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21" name="Text 18"/>
          <p:cNvSpPr/>
          <p:nvPr/>
        </p:nvSpPr>
        <p:spPr>
          <a:xfrm>
            <a:off x="1079500" y="60706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Present 20-40 as a practical minimum in moderate cases, and more when FMI is high.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FMIが高い場合はより多くの代入回数が必要。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36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D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72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Topics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1016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B0B8C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Auxiliaries, Interactions, Categorical &amp; Longitudinal Data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5270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補助変数、交互作用、カテゴリ、縦断データ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970000" y="0"/>
            <a:ext cx="2286000" cy="9144000"/>
          </a:xfrm>
          <a:prstGeom prst="rect">
            <a:avLst/>
          </a:prstGeom>
          <a:solidFill>
            <a:srgbClr val="252F47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68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Auxiliary Variables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補助変数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854200"/>
            <a:ext cx="7112000" cy="2286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854200"/>
            <a:ext cx="7112000" cy="4572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1854200"/>
            <a:ext cx="711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(Analysis) Model / 最終分析モデル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990600" y="2463800"/>
                <a:ext cx="6654800" cy="15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β</m:t>
                          </m:r>
                        </m:e>
                        <m:sub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β</m:t>
                          </m:r>
                        </m:e>
                        <m:sub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</m:sSub>
                      <m:r>
                        <a:rPr lang="en-US" sz="16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6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ε</m:t>
                      </m:r>
                    </m:oMath>
                  </m:oMathPara>
                </a14:m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Only X and Y are in the final scientific model. The auxiliary Z is not part of the research question.</a:t>
                </a:r>
                <a:endParaRPr lang="en-US" sz="1600" dirty="0"/>
              </a:p>
            </p:txBody>
          </p:sp>
        </mc:Choice>
        <mc:Fallback xmlns="">
          <p:sp>
            <p:nvSpPr>
              <p:cNvPr id="16" name="Text 14"/>
              <p:cNvSpPr/>
              <p:nvPr/>
            </p:nvSpPr>
            <p:spPr>
              <a:xfrm>
                <a:off x="990600" y="2463800"/>
                <a:ext cx="6654800" cy="15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 = \beta_0 + \beta_1 X + \varepsilon \)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Only X and Y are in the final scientific model. The auxiliary Z is not part of the research question.</a:t>
                </a:r>
                <a:endParaRPr lang="en-US" sz="1600" dirty="0"/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8128000" y="1854200"/>
            <a:ext cx="7366000" cy="2286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8000" y="1854200"/>
            <a:ext cx="7366000" cy="457200"/>
          </a:xfrm>
          <a:prstGeom prst="roundRect">
            <a:avLst>
              <a:gd name="adj" fmla="val 5000"/>
            </a:avLst>
          </a:prstGeom>
          <a:solidFill>
            <a:srgbClr val="B87333"/>
          </a:solidFill>
          <a:ln/>
        </p:spPr>
      </p:sp>
      <p:sp>
        <p:nvSpPr>
          <p:cNvPr id="19" name="Text 17"/>
          <p:cNvSpPr/>
          <p:nvPr/>
        </p:nvSpPr>
        <p:spPr>
          <a:xfrm>
            <a:off x="8128000" y="1854200"/>
            <a:ext cx="736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Imputation Model / 代入モデル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8"/>
              <p:cNvSpPr/>
              <p:nvPr/>
            </p:nvSpPr>
            <p:spPr>
              <a:xfrm>
                <a:off x="8356600" y="2463800"/>
                <a:ext cx="6908800" cy="15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p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16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X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Z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a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x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6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C</m:t>
                      </m:r>
                      <m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Z_aux is included in imputation even though it is not in the final analysis. It helps predict missing Y and reduces B.</a:t>
                </a:r>
                <a:endParaRPr lang="en-US" sz="1600" dirty="0"/>
              </a:p>
            </p:txBody>
          </p:sp>
        </mc:Choice>
        <mc:Fallback xmlns="">
          <p:sp>
            <p:nvSpPr>
              <p:cNvPr id="20" name="Text 18"/>
              <p:cNvSpPr/>
              <p:nvPr/>
            </p:nvSpPr>
            <p:spPr>
              <a:xfrm>
                <a:off x="8356600" y="2463800"/>
                <a:ext cx="6908800" cy="15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p(Y_{mis} \mid X, Z_{aux}, C) \)</a:t>
                </a:r>
                <a:endParaRPr lang="en-US" sz="16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Z_aux is included in imputation even though it is not in the final analysis. It helps predict missing Y and reduces B.</a:t>
                </a:r>
                <a:endParaRPr lang="en-US" sz="1600" dirty="0"/>
              </a:p>
            </p:txBody>
          </p:sp>
        </mc:Fallback>
      </mc:AlternateContent>
      <p:sp>
        <p:nvSpPr>
          <p:cNvPr id="21" name="Text 19"/>
          <p:cNvSpPr/>
          <p:nvPr/>
        </p:nvSpPr>
        <p:spPr>
          <a:xfrm>
            <a:off x="762000" y="43942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auxiliary variable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included in the imputation model but not the final analysis. Useful when it predicts the missing value or predicts missingness. Example: midterm marks as auxiliary for missing final exam marks.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補助変数は代入モデルに含まれるが最終分析には含まれない。中間試験の点数が期末試験の補助変数となる例。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8674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E8EBF2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1"/>
              <p:cNvSpPr/>
              <p:nvPr/>
            </p:nvSpPr>
            <p:spPr>
              <a:xfrm>
                <a:off x="1079500" y="5969000"/>
                <a:ext cx="14097000" cy="825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Good auxiliary: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corr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Z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a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x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8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8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high or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Z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a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x</m:t>
                          </m:r>
                        </m:sub>
                      </m:sSub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predicts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R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sub>
                      </m:sSub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. Complete-case analysis cannot use auxiliaries because incomplete cases are already discarded. </a:t>
                </a:r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完全ケース分析は補助変数を活用できない。</a:t>
                </a:r>
                <a:endParaRPr lang="en-US" sz="1800" dirty="0"/>
              </a:p>
            </p:txBody>
          </p:sp>
        </mc:Choice>
        <mc:Fallback xmlns="">
          <p:sp>
            <p:nvSpPr>
              <p:cNvPr id="23" name="Text 21"/>
              <p:cNvSpPr/>
              <p:nvPr/>
            </p:nvSpPr>
            <p:spPr>
              <a:xfrm>
                <a:off x="1079500" y="5969000"/>
                <a:ext cx="14097000" cy="825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Good auxiliary: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\text{corr}(Z_{aux}, Y) \)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high or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Z_{aux} \)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predicts 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R_Y \)</a:t>
                </a:r>
                <a:pPr algn="l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. Complete-case analysis cannot use auxiliaries because incomplete cases are already discarded. </a:t>
                </a:r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完全ケース分析は補助変数を活用できない。</a:t>
                </a:r>
                <a:endParaRPr lang="en-US" sz="1800" dirty="0"/>
              </a:p>
            </p:txBody>
          </p:sp>
        </mc:Fallback>
      </mc:AlternateContent>
      <p:sp>
        <p:nvSpPr>
          <p:cNvPr id="24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38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68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Interactions: Imputation Model Complexity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交互作用: 代入モデルは分析モデル以上に複雑であるべき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854200"/>
            <a:ext cx="14732000" cy="762000"/>
          </a:xfrm>
          <a:prstGeom prst="roundRect">
            <a:avLst>
              <a:gd name="adj" fmla="val 4000"/>
            </a:avLst>
          </a:prstGeom>
          <a:solidFill>
            <a:srgbClr val="2D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1955800"/>
            <a:ext cx="14097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"Do not impute a simpler world than the one you plan to analyse."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分析より単純な世界を代入しない。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2870200"/>
            <a:ext cx="7112000" cy="22225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29972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Model (with interaction)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/>
              <p:nvPr/>
            </p:nvSpPr>
            <p:spPr>
              <a:xfrm>
                <a:off x="1016000" y="3454400"/>
                <a:ext cx="6604000" cy="146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5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Y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β</m:t>
                          </m:r>
                        </m:e>
                        <m:sub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β</m:t>
                          </m:r>
                        </m:e>
                        <m:sub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</m:sSub>
                      <m:r>
                        <a:rPr lang="en-US" sz="15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A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β</m:t>
                          </m:r>
                        </m:e>
                        <m:sub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b>
                      </m:sSub>
                      <m:r>
                        <a:rPr lang="en-US" sz="15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B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β</m:t>
                          </m:r>
                        </m:e>
                        <m:sub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3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5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A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×</m:t>
                      </m:r>
                      <m:r>
                        <a:rPr lang="en-US" sz="15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B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5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ε</m:t>
                      </m:r>
                    </m:oMath>
                  </m:oMathPara>
                </a14:m>
                <a:endParaRPr lang="en-US" sz="1500" dirty="0"/>
              </a:p>
              <a:p>
                <a:pPr algn="l">
                  <a:lnSpc>
                    <a:spcPct val="140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The analysis tests the A × B interaction. If the imputation model omits this term, the interaction can be biased toward zero in imputed portions.</a:t>
                </a:r>
                <a:endParaRPr lang="en-US" sz="1500" dirty="0"/>
              </a:p>
            </p:txBody>
          </p:sp>
        </mc:Choice>
        <mc:Fallback xmlns="">
          <p:sp>
            <p:nvSpPr>
              <p:cNvPr id="17" name="Text 15"/>
              <p:cNvSpPr/>
              <p:nvPr/>
            </p:nvSpPr>
            <p:spPr>
              <a:xfrm>
                <a:off x="1016000" y="3454400"/>
                <a:ext cx="6604000" cy="1460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4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 = \beta_0 + \beta_1 A + \beta_2 B + \beta_3 (A \times B) + \varepsilon \)</a:t>
                </a:r>
                <a:endParaRPr lang="en-US" sz="1500" dirty="0"/>
              </a:p>
              <a:p>
                <a:pPr algn="l">
                  <a:lnSpc>
                    <a:spcPct val="140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The analysis tests the A × B interaction. If the imputation model omits this term, the interaction can be biased toward zero in imputed portions.</a:t>
                </a:r>
                <a:endParaRPr lang="en-US" sz="1500" dirty="0"/>
              </a:p>
            </p:txBody>
          </p:sp>
        </mc:Fallback>
      </mc:AlternateContent>
      <p:sp>
        <p:nvSpPr>
          <p:cNvPr id="18" name="Shape 16"/>
          <p:cNvSpPr/>
          <p:nvPr/>
        </p:nvSpPr>
        <p:spPr>
          <a:xfrm>
            <a:off x="8128000" y="2870200"/>
            <a:ext cx="7366000" cy="22225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29972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Imputation Model (must preserve it)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82000" y="3454400"/>
            <a:ext cx="685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Imputation model should include: A, B, A×B, and variables related to missingness.</a:t>
            </a:r>
            <a:endParaRPr lang="en-US" sz="15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Solutions:</a:t>
            </a:r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Include product term, passive imputation, or impute separately within levels of a fully observed categorical variable.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2000" y="52832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F5E6E6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5283200"/>
            <a:ext cx="63500" cy="1016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1079500" y="53848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Warning: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Omitting A×B from the imputation model forces correlation between AB and included variables toward zero in imputed portions. The very pattern you want to test gets smoothed over.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39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68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270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Categorical Variables &amp; Longitudinal Data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カテゴリ変数と縦断データ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854200"/>
            <a:ext cx="7112000" cy="2921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854200"/>
            <a:ext cx="7112000" cy="457200"/>
          </a:xfrm>
          <a:prstGeom prst="roundRect">
            <a:avLst>
              <a:gd name="adj" fmla="val 5000"/>
            </a:avLst>
          </a:prstGeom>
          <a:solidFill>
            <a:srgbClr val="2D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1854200"/>
            <a:ext cx="711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Categorical Variables / カテゴリ変数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990600" y="2463800"/>
                <a:ext cx="6654800" cy="215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Binary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D in {0,1}: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5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E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5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D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5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P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5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D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— often handled by normal model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Multi-category:</a:t>
                </a:r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Create p-1 dummy variables. Normal draw may produce impossible values (e.g., 2.73 for a category).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Rule:</a:t>
                </a:r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For p categories → p-1 dummy variables. Use categorical imputation models for categorical missingness.</a:t>
                </a:r>
                <a:endParaRPr lang="en-US" sz="1500" dirty="0"/>
              </a:p>
            </p:txBody>
          </p:sp>
        </mc:Choice>
        <mc:Fallback xmlns="">
          <p:sp>
            <p:nvSpPr>
              <p:cNvPr id="16" name="Text 14"/>
              <p:cNvSpPr/>
              <p:nvPr/>
            </p:nvSpPr>
            <p:spPr>
              <a:xfrm>
                <a:off x="990600" y="2463800"/>
                <a:ext cx="6654800" cy="215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Binary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D in {0,1}: 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E(D) = P(D=1) \)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— often handled by normal model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Multi-category:</a:t>
                </a:r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Create p-1 dummy variables. Normal draw may produce impossible values (e.g., 2.73 for a category).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Rule:</a:t>
                </a:r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For p categories → p-1 dummy variables. Use categorical imputation models for categorical missingness.</a:t>
                </a:r>
                <a:endParaRPr lang="en-US" sz="1500" dirty="0"/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8128000" y="1854200"/>
            <a:ext cx="7366000" cy="2921000"/>
          </a:xfrm>
          <a:prstGeom prst="roundRect">
            <a:avLst>
              <a:gd name="adj" fmla="val 5000"/>
            </a:avLst>
          </a:prstGeom>
          <a:solidFill>
            <a:srgbClr val="EDEAE4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8000" y="1854200"/>
            <a:ext cx="7366000" cy="457200"/>
          </a:xfrm>
          <a:prstGeom prst="roundRect">
            <a:avLst>
              <a:gd name="adj" fmla="val 5000"/>
            </a:avLst>
          </a:prstGeom>
          <a:solidFill>
            <a:srgbClr val="B87333"/>
          </a:solidFill>
          <a:ln/>
        </p:spPr>
      </p:sp>
      <p:sp>
        <p:nvSpPr>
          <p:cNvPr id="19" name="Text 17"/>
          <p:cNvSpPr/>
          <p:nvPr/>
        </p:nvSpPr>
        <p:spPr>
          <a:xfrm>
            <a:off x="8128000" y="1854200"/>
            <a:ext cx="736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Longitudinal &amp; Clustered / 縦断・階層データ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8"/>
              <p:cNvSpPr/>
              <p:nvPr/>
            </p:nvSpPr>
            <p:spPr>
              <a:xfrm>
                <a:off x="8356600" y="2463800"/>
                <a:ext cx="6908800" cy="215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Growth model: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t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α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β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sub>
                      </m:sSub>
                      <m:r>
                        <a:rPr lang="en-US" sz="1500" i="1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t</m:t>
                      </m:r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ε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sz="15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Cluster model:</a:t>
                </a:r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β</m:t>
                          </m:r>
                        </m:e>
                        <m:sub>
                          <m: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0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ε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100" i="1" dirty="0">
                              <a:solidFill>
                                <a:srgbClr val="1E2330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en-US" sz="15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The imputation model should reflect the data structure. If clustering is ignored, between-cluster variation can be distorted.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3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代入モデルはデータ構造を反映すべき。</a:t>
                </a:r>
                <a:endParaRPr lang="en-US" sz="1500" dirty="0"/>
              </a:p>
            </p:txBody>
          </p:sp>
        </mc:Choice>
        <mc:Fallback xmlns="">
          <p:sp>
            <p:nvSpPr>
              <p:cNvPr id="20" name="Text 18"/>
              <p:cNvSpPr/>
              <p:nvPr/>
            </p:nvSpPr>
            <p:spPr>
              <a:xfrm>
                <a:off x="8356600" y="2463800"/>
                <a:ext cx="6908800" cy="215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Growth model: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Y_{it} = \alpha_i + \beta_i t + \varepsilon_{it} \)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b="1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Cluster model:</a:t>
                </a:r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Y_{ij} = \beta_0 + u_j + \varepsilon_{ij} \)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500" dirty="0">
                    <a:solidFill>
                      <a:srgbClr val="1E23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The imputation model should reflect the data structure. If clustering is ignored, between-cluster variation can be distorted.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3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代入モデルはデータ構造を反映すべき。</a:t>
                </a:r>
                <a:endParaRPr lang="en-US" sz="1500" dirty="0"/>
              </a:p>
            </p:txBody>
          </p:sp>
        </mc:Fallback>
      </mc:AlternateContent>
      <p:sp>
        <p:nvSpPr>
          <p:cNvPr id="21" name="Shape 19"/>
          <p:cNvSpPr/>
          <p:nvPr/>
        </p:nvSpPr>
        <p:spPr>
          <a:xfrm>
            <a:off x="762000" y="5029200"/>
            <a:ext cx="14732000" cy="889000"/>
          </a:xfrm>
          <a:prstGeom prst="roundRect">
            <a:avLst>
              <a:gd name="adj" fmla="val 4000"/>
            </a:avLst>
          </a:prstGeom>
          <a:solidFill>
            <a:srgbClr val="E8EBF2"/>
          </a:solidFill>
          <a:ln/>
        </p:spPr>
      </p:sp>
      <p:sp>
        <p:nvSpPr>
          <p:cNvPr id="22" name="Text 20"/>
          <p:cNvSpPr/>
          <p:nvPr/>
        </p:nvSpPr>
        <p:spPr>
          <a:xfrm>
            <a:off x="1079500" y="51308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imputation model should know the shape of the data."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代入モデルはデータの構造を知っている必要がある。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Older Methods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1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0000" y="1016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&amp; 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36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BA5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Rubin Pooling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68000" y="1016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B87333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0" y="101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36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Comparing FIML, EM &amp; MI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2192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FIML・EM・MIの比較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1574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54200"/>
          <a:ext cx="14732000" cy="3683000"/>
        </p:xfrm>
        <a:graphic>
          <a:graphicData uri="http://schemas.openxmlformats.org/drawingml/2006/table">
            <a:tbl>
              <a:tblPr/>
              <a:tblGrid>
                <a:gridCol w="2651760"/>
                <a:gridCol w="3977640"/>
                <a:gridCol w="3977640"/>
                <a:gridCol w="4124960"/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Feature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FIML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EM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</a:tr>
              <a:tr h="64820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Output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Direct parameter estimates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Mean vector, covariance matrix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 completed datasets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820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Standard Errors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One-step, built-in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Need extra work (bootstrap)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Via Rubin pooling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  <a:tr h="64820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Flexibility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Less flexible for auxiliaries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Moderate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7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Highly flexible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820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Auxiliaries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Harder to include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Moderate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B87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Easy to include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  <a:tr h="64820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Best For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SEM, structural models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Means, covariances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33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General-purpose analysis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62000" y="57912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E8EBF2"/>
          </a:solidFill>
          <a:ln/>
        </p:spPr>
      </p:sp>
      <p:sp>
        <p:nvSpPr>
          <p:cNvPr id="15" name="Text 12"/>
          <p:cNvSpPr/>
          <p:nvPr/>
        </p:nvSpPr>
        <p:spPr>
          <a:xfrm>
            <a:off x="1079500" y="5892800"/>
            <a:ext cx="14097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Theoretical equivalence: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 and ML are asymptotically equivalent when they use the same variables, observations, and distributional assumptions with large m. In practice, differences often come from model information, not method labels.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理論的には同じ仮定の下で漸近的に等価。実際の違いはモデル情報から来ることが多い。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41 / 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gradFill rotWithShape="1" flip="none">
          <a:gsLst>
            <a:gs pos="0">
              <a:srgbClr val="2D3A5C"/>
            </a:gs>
            <a:gs pos="100000">
              <a:srgbClr val="1E2639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270000"/>
            <a:ext cx="2540000" cy="508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5240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Memory Map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43000" y="22860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最終まとめ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" y="30480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3048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Missingness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56000" y="3302000"/>
            <a:ext cx="635000" cy="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191000" y="3048000"/>
            <a:ext cx="2286000" cy="635000"/>
          </a:xfrm>
          <a:prstGeom prst="roundRect">
            <a:avLst>
              <a:gd name="adj" fmla="val 12000"/>
            </a:avLst>
          </a:prstGeom>
          <a:solidFill>
            <a:srgbClr val="2D3A5C"/>
          </a:solidFill>
          <a:ln/>
        </p:spPr>
      </p:sp>
      <p:sp>
        <p:nvSpPr>
          <p:cNvPr id="9" name="Text 7"/>
          <p:cNvSpPr/>
          <p:nvPr/>
        </p:nvSpPr>
        <p:spPr>
          <a:xfrm>
            <a:off x="4191000" y="3048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Assumption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77000" y="3302000"/>
            <a:ext cx="635000" cy="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7112000" y="3048000"/>
            <a:ext cx="2286000" cy="635000"/>
          </a:xfrm>
          <a:prstGeom prst="roundRect">
            <a:avLst>
              <a:gd name="adj" fmla="val 12000"/>
            </a:avLst>
          </a:prstGeom>
          <a:solidFill>
            <a:srgbClr val="2D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7112000" y="3048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98000" y="3302000"/>
            <a:ext cx="635000" cy="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0033000" y="30480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2D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10033000" y="3048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Uncertainty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573000" y="3302000"/>
            <a:ext cx="635000" cy="0"/>
          </a:xfrm>
          <a:prstGeom prst="straightConnector1">
            <a:avLst/>
          </a:prstGeom>
          <a:noFill/>
          <a:ln w="25400">
            <a:solidFill>
              <a:srgbClr val="B87333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3208000" y="3048000"/>
            <a:ext cx="2286000" cy="635000"/>
          </a:xfrm>
          <a:prstGeom prst="roundRect">
            <a:avLst>
              <a:gd name="adj" fmla="val 12000"/>
            </a:avLst>
          </a:prstGeom>
          <a:solidFill>
            <a:srgbClr val="4A7C59"/>
          </a:solidFill>
          <a:ln/>
        </p:spPr>
      </p:sp>
      <p:sp>
        <p:nvSpPr>
          <p:cNvPr id="18" name="Text 16"/>
          <p:cNvSpPr/>
          <p:nvPr/>
        </p:nvSpPr>
        <p:spPr>
          <a:xfrm>
            <a:off x="13208000" y="3048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16000" y="4064000"/>
            <a:ext cx="14224000" cy="2032000"/>
          </a:xfrm>
          <a:prstGeom prst="roundRect">
            <a:avLst>
              <a:gd name="adj" fmla="val 4000"/>
            </a:avLst>
          </a:prstGeom>
          <a:solidFill>
            <a:srgbClr val="252F47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8"/>
              <p:cNvSpPr/>
              <p:nvPr/>
            </p:nvSpPr>
            <p:spPr>
              <a:xfrm>
                <a:off x="1333500" y="4216400"/>
                <a:ext cx="13589000" cy="172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600" b="1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FIML: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L</m:t>
                      </m:r>
                      <m:r>
                        <a:rPr lang="en-US" sz="16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600" i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θ</m:t>
                      </m:r>
                      <m:r>
                        <a:rPr lang="en-US" sz="16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6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∏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sub>
                      </m:sSub>
                      <m:r>
                        <a:rPr lang="en-US" sz="1600" i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f</m:t>
                      </m:r>
                      <m:r>
                        <a:rPr lang="en-US" sz="16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o</m:t>
                          </m:r>
                          <m:r>
                            <a:rPr lang="en-US" sz="1100" i="1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b</m:t>
                          </m:r>
                          <m:r>
                            <a:rPr lang="en-US" sz="1100" i="1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  <m:r>
                            <a:rPr lang="en-US" sz="1100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,</m:t>
                          </m:r>
                          <m:r>
                            <a:rPr lang="en-US" sz="1100" i="1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1600" i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θ</m:t>
                      </m:r>
                      <m:r>
                        <a:rPr lang="en-US" sz="16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— uses observed parts in likelihood</a:t>
                </a:r>
                <a:endParaRPr lang="en-US" sz="16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600" b="1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EM: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E-step → M-step iteratively — estimates expected sufficient statistics</a:t>
                </a:r>
                <a:endParaRPr lang="en-US" sz="16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600" b="1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DA: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I-step ↔ P-step — creates plausible completed datasets via Markov chain</a:t>
                </a:r>
                <a:endParaRPr lang="en-US" sz="16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600" b="1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Rubin: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T</m:t>
                      </m:r>
                      <m:r>
                        <a:rPr lang="en-US" sz="16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limUpp>
                        <m:limUppPr>
                          <m:ctrlPr>
                            <a:rPr lang="en-US" sz="1600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600" i="1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U</m:t>
                          </m:r>
                        </m:e>
                        <m:lim>
                          <m:r>
                            <a:rPr lang="en-US" sz="1600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ˉ</m:t>
                          </m:r>
                        </m:lim>
                      </m:limUpp>
                      <m:r>
                        <a:rPr lang="en-US" sz="16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6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6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16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6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16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/</m:t>
                      </m:r>
                      <m:r>
                        <a:rPr lang="en-US" sz="1600" i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m</m:t>
                      </m:r>
                      <m:r>
                        <a:rPr lang="en-US" sz="16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1600" i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B</m:t>
                      </m:r>
                    </m:oMath>
                  </m:oMathPara>
                </a14:m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— pools by combining sampling + missing-data uncertainty</a:t>
                </a:r>
                <a:endParaRPr lang="en-US" sz="1600" dirty="0"/>
              </a:p>
            </p:txBody>
          </p:sp>
        </mc:Choice>
        <mc:Fallback xmlns="">
          <p:sp>
            <p:nvSpPr>
              <p:cNvPr id="20" name="Text 18"/>
              <p:cNvSpPr/>
              <p:nvPr/>
            </p:nvSpPr>
            <p:spPr>
              <a:xfrm>
                <a:off x="1333500" y="4216400"/>
                <a:ext cx="13589000" cy="172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600" b="1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FIML: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L(\theta) = \prod_i f(D_{obs,i} \mid \theta) \)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— uses observed parts in likelihood</a:t>
                </a:r>
                <a:endParaRPr lang="en-US" sz="16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600" b="1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EM: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E-step → M-step iteratively — estimates expected sufficient statistics</a:t>
                </a:r>
                <a:endParaRPr lang="en-US" sz="16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600" b="1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DA: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I-step ↔ P-step — creates plausible completed datasets via Markov chain</a:t>
                </a:r>
                <a:endParaRPr lang="en-US" sz="16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600" b="1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Rubin: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T = \bar{U} + (1 + 1/m)B \)</a:t>
                </a:r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— pools by combining sampling + missing-data uncertainty</a:t>
                </a:r>
                <a:endParaRPr lang="en-US" sz="1600" dirty="0"/>
              </a:p>
            </p:txBody>
          </p:sp>
        </mc:Fallback>
      </mc:AlternateContent>
      <p:sp>
        <p:nvSpPr>
          <p:cNvPr id="21" name="Shape 19"/>
          <p:cNvSpPr/>
          <p:nvPr/>
        </p:nvSpPr>
        <p:spPr>
          <a:xfrm>
            <a:off x="1016000" y="6400800"/>
            <a:ext cx="14224000" cy="1016000"/>
          </a:xfrm>
          <a:prstGeom prst="roundRect">
            <a:avLst>
              <a:gd name="adj" fmla="val 4000"/>
            </a:avLst>
          </a:prstGeom>
          <a:solidFill>
            <a:srgbClr val="B87333"/>
          </a:solidFill>
          <a:ln/>
        </p:spPr>
      </p:sp>
      <p:sp>
        <p:nvSpPr>
          <p:cNvPr id="22" name="Text 20"/>
          <p:cNvSpPr/>
          <p:nvPr/>
        </p:nvSpPr>
        <p:spPr>
          <a:xfrm>
            <a:off x="1333500" y="6502400"/>
            <a:ext cx="13589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aim is not to fill blanks, but to preserve valid inference.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欠測データ分析の目的は、空欄を隠すことではなく、不確実性を正しく表現することです。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B87333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Missing Data, Multiple Imputation &amp; Data Augmentation</dc:title>
  <dc:subject>Missing Data, Multiple Imputation &amp; Data Augmentation</dc:subject>
  <dc:creator>Kimi</dc:creator>
  <cp:lastModifiedBy>Kimi</cp:lastModifiedBy>
  <cp:revision>1</cp:revision>
  <dcterms:created xsi:type="dcterms:W3CDTF">2026-06-23T01:38:27Z</dcterms:created>
  <dcterms:modified xsi:type="dcterms:W3CDTF">2026-06-23T01:38:27Z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{"Label":"Missing Data, Multiple Imputation &amp; Data Augmentation","ContentProducer":"001191110108MACG2KBH8F10000","ProduceID":"19ef054e-b1c2-8bdf-8000-00005c54085c","ReservedCode1":"","ContentPropagator":"001191110108MACG2KBH8F20000","PropagateID":"19ef050a-1ae2-8775-8000-09f43a97bc58","ReservedCode2":""}</vt:lpwstr>
  </property>
</Properties>
</file>