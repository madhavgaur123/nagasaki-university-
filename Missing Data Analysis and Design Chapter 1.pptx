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6256000" cy="9144000"/>
  <p:notesSz cx="9144000" cy="16256000"/>
  <p:embeddedFontLst>
    <p:embeddedFont>
      <p:font typeface="Quattrocento Sans" charset="-122" pitchFamily="34"/>
      <p:regular r:id="rId3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0800" y="0"/>
            <a:ext cx="7315200" cy="9144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8940800" y="0"/>
            <a:ext cx="76200" cy="9144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7940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Data Theory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62000" y="45720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Missingness to MCAR, MAR, NMAR and Bias Assessment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6096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→ MISSINGNESS → ASSUMPTION → ANALYSIS → CONCLUSION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6731000"/>
            <a:ext cx="152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9850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MCAR, MAR, NMAR, Multiple Imputation, Maximum Likelihood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 Assessment, Diagnostics and Sensitivity Analysis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4732000" cy="254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3429000" cy="6096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16000" y="2921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34290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missing data matters, types of missingness, and the evolution from historical to modern methods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6000" y="5080000"/>
            <a:ext cx="292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Missing Data Matters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 of Missing Data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Approaches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Methods: MI &amp; ML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1200" y="1778000"/>
            <a:ext cx="3429000" cy="6096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0" name="Text 8"/>
          <p:cNvSpPr/>
          <p:nvPr/>
        </p:nvSpPr>
        <p:spPr>
          <a:xfrm>
            <a:off x="47752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75200" y="2921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Mechanisms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75200" y="34290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MCAR, MAR, and NMAR — the three fundamental mechanisms and how they determine analysis strategy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5200" y="5080000"/>
            <a:ext cx="292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Three Models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X, Y, Z and R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MCAR, MAR, NMAR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 &amp; Proving MAR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80400" y="1778000"/>
            <a:ext cx="3429000" cy="6096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5" name="Text 13"/>
          <p:cNvSpPr/>
          <p:nvPr/>
        </p:nvSpPr>
        <p:spPr>
          <a:xfrm>
            <a:off x="85344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534400" y="2921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 Assessment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34400" y="34290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estimation bias, its measures, and the factors that determine distortion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34400" y="5080000"/>
            <a:ext cx="292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MAR Be Proven?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Estimation Bias?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of Bias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Factors Affecting Bias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039600" y="1778000"/>
            <a:ext cx="3429000" cy="6096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20" name="Text 18"/>
          <p:cNvSpPr/>
          <p:nvPr/>
        </p:nvSpPr>
        <p:spPr>
          <a:xfrm>
            <a:off x="122936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12293600" y="2921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293600" y="34290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Sensitivity analysis, diagnostics, and strategies to make MAR more plausible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293600" y="5080000"/>
            <a:ext cx="292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Sensitivity Analysis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Diagnostics &amp; NMAR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Making MAR Plausible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Flowchart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62000" y="46990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953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missing data matters, types of missingness,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the evolution from historical to modern methods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Missing Data Matters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5240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statistical methods were designed for complete datasets.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222500"/>
            <a:ext cx="762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2095500"/>
            <a:ext cx="863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data may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distort means and correlations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2730500"/>
            <a:ext cx="762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2603500"/>
            <a:ext cx="863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may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 regression coefficients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3238500"/>
            <a:ext cx="762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111500"/>
            <a:ext cx="863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may produce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incorrect standard errors and confidence intervals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3746500"/>
            <a:ext cx="762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3619500"/>
            <a:ext cx="863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can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 substantive conclusions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4381500"/>
            <a:ext cx="8890000" cy="1524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4508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1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6000" y="4826000"/>
            <a:ext cx="838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lower-income respondents disproportionately skip the income question, deleting those cases may make the population appear richer than it actually is.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286500"/>
            <a:ext cx="8890000" cy="762000"/>
          </a:xfrm>
          <a:prstGeom prst="rect">
            <a:avLst/>
          </a:prstGeom>
          <a:solidFill>
            <a:srgbClr val="2D4A52">
              <a:alpha val="823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6286500"/>
            <a:ext cx="50800" cy="762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6350000"/>
            <a:ext cx="838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data is not merely a blank-cell problem; it can alter the inference.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60000" y="1524000"/>
            <a:ext cx="5334000" cy="6096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26" name="Text 24"/>
          <p:cNvSpPr/>
          <p:nvPr/>
        </p:nvSpPr>
        <p:spPr>
          <a:xfrm>
            <a:off x="10541000" y="1778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MISSING DATA PIPELINE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795000" y="2413000"/>
            <a:ext cx="4064000" cy="635000"/>
          </a:xfrm>
          <a:prstGeom prst="rect">
            <a:avLst/>
          </a:prstGeom>
          <a:solidFill>
            <a:srgbClr val="3D5A62"/>
          </a:solidFill>
          <a:ln/>
        </p:spPr>
      </p:sp>
      <p:sp>
        <p:nvSpPr>
          <p:cNvPr id="28" name="Text 26"/>
          <p:cNvSpPr/>
          <p:nvPr/>
        </p:nvSpPr>
        <p:spPr>
          <a:xfrm>
            <a:off x="10795000" y="2413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Dataset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763500" y="3048000"/>
            <a:ext cx="0" cy="381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0795000" y="3429000"/>
            <a:ext cx="4064000" cy="635000"/>
          </a:xfrm>
          <a:prstGeom prst="rect">
            <a:avLst/>
          </a:prstGeom>
          <a:solidFill>
            <a:srgbClr val="3D5A62"/>
          </a:solidFill>
          <a:ln/>
        </p:spPr>
      </p:sp>
      <p:sp>
        <p:nvSpPr>
          <p:cNvPr id="31" name="Text 29"/>
          <p:cNvSpPr/>
          <p:nvPr/>
        </p:nvSpPr>
        <p:spPr>
          <a:xfrm>
            <a:off x="10795000" y="3429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Missingness Occurs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763500" y="4064000"/>
            <a:ext cx="0" cy="381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0795000" y="4445000"/>
            <a:ext cx="4064000" cy="635000"/>
          </a:xfrm>
          <a:prstGeom prst="rect">
            <a:avLst/>
          </a:prstGeom>
          <a:solidFill>
            <a:srgbClr val="3D5A62"/>
          </a:solidFill>
          <a:ln/>
        </p:spPr>
      </p:sp>
      <p:sp>
        <p:nvSpPr>
          <p:cNvPr id="34" name="Text 32"/>
          <p:cNvSpPr/>
          <p:nvPr/>
        </p:nvSpPr>
        <p:spPr>
          <a:xfrm>
            <a:off x="10795000" y="4445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Assumption Made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763500" y="5080000"/>
            <a:ext cx="0" cy="381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10795000" y="5461000"/>
            <a:ext cx="4064000" cy="635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7" name="Text 35"/>
          <p:cNvSpPr/>
          <p:nvPr/>
        </p:nvSpPr>
        <p:spPr>
          <a:xfrm>
            <a:off x="10795000" y="5461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Performed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763500" y="6096000"/>
            <a:ext cx="0" cy="381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10795000" y="6477000"/>
            <a:ext cx="4064000" cy="635000"/>
          </a:xfrm>
          <a:prstGeom prst="rect">
            <a:avLst/>
          </a:prstGeom>
          <a:solidFill>
            <a:srgbClr val="3D5A62"/>
          </a:solidFill>
          <a:ln/>
        </p:spPr>
      </p:sp>
      <p:sp>
        <p:nvSpPr>
          <p:cNvPr id="40" name="Text 38"/>
          <p:cNvSpPr/>
          <p:nvPr/>
        </p:nvSpPr>
        <p:spPr>
          <a:xfrm>
            <a:off x="10795000" y="6477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Drawn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 of Missing Data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3302000"/>
        </p:xfrm>
        <a:graphic>
          <a:graphicData uri="http://schemas.openxmlformats.org/drawingml/2006/table">
            <a:tbl>
              <a:tblPr/>
              <a:tblGrid>
                <a:gridCol w="3241040"/>
                <a:gridCol w="5598160"/>
                <a:gridCol w="5892800"/>
              </a:tblGrid>
              <a:tr h="7264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Type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Meaning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Example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Item Nonresponse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One or more individual values are missing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Participant completes the survey but skips the income question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Wave Nonresponse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An entire measurement occasion is missing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Participant misses the Year 3 survey entirely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Attrition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Participant permanently drops out and never returns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Participant misses Year 3 and all subsequent waves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527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Interpolation vs. Extrapolation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62000" y="5842000"/>
            <a:ext cx="7048500" cy="1524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16000" y="5969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1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INTERPOLATION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16000" y="6299200"/>
            <a:ext cx="654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missing value lies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between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known observations. Example: 70, 72, </a:t>
            </a:r>
            <a:pPr algn="l">
              <a:lnSpc>
                <a:spcPct val="150000"/>
              </a:lnSpc>
            </a:pPr>
            <a:r>
              <a:rPr lang="en-US" sz="15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76 — a value near 74 is plausible.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445500" y="5842000"/>
            <a:ext cx="7048500" cy="1524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6" name="Text 13"/>
          <p:cNvSpPr/>
          <p:nvPr/>
        </p:nvSpPr>
        <p:spPr>
          <a:xfrm>
            <a:off x="8699500" y="5969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1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EXTRAPOLATION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99500" y="6299200"/>
            <a:ext cx="654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later observations are missing. Example: 70, 72, </a:t>
            </a:r>
            <a:pPr algn="l">
              <a:lnSpc>
                <a:spcPct val="150000"/>
              </a:lnSpc>
            </a:pPr>
            <a:r>
              <a:rPr lang="en-US" sz="15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l">
              <a:lnSpc>
                <a:spcPct val="150000"/>
              </a:lnSpc>
            </a:pPr>
            <a:r>
              <a:rPr lang="en-US" sz="15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Attrition is harder because estimates extend beyond observed data.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62000" y="7747000"/>
            <a:ext cx="14732000" cy="635000"/>
          </a:xfrm>
          <a:prstGeom prst="rect">
            <a:avLst/>
          </a:prstGeom>
          <a:solidFill>
            <a:srgbClr val="2D4A52">
              <a:alpha val="8235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62000" y="7747000"/>
            <a:ext cx="50800" cy="635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0" name="Text 17"/>
          <p:cNvSpPr/>
          <p:nvPr/>
        </p:nvSpPr>
        <p:spPr>
          <a:xfrm>
            <a:off x="1016000" y="78105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Attrition is the hardest case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because the estimate must extend beyond the observed data range.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Approaches and Their Problems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986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approaches commonly included listwise deletion and mean substitution.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095500"/>
            <a:ext cx="7048500" cy="1397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1025" y="50979"/>
                </a:moveTo>
                <a:cubicBezTo>
                  <a:pt x="39449" y="42297"/>
                  <a:pt x="20651" y="42297"/>
                  <a:pt x="9075" y="50979"/>
                </a:cubicBezTo>
                <a:cubicBezTo>
                  <a:pt x="-2500" y="59660"/>
                  <a:pt x="-2500" y="73759"/>
                  <a:pt x="9075" y="82441"/>
                </a:cubicBezTo>
                <a:lnTo>
                  <a:pt x="136313" y="177800"/>
                </a:lnTo>
                <a:lnTo>
                  <a:pt x="9168" y="273229"/>
                </a:lnTo>
                <a:cubicBezTo>
                  <a:pt x="-2408" y="281910"/>
                  <a:pt x="-2408" y="296009"/>
                  <a:pt x="9168" y="304691"/>
                </a:cubicBezTo>
                <a:cubicBezTo>
                  <a:pt x="20743" y="313373"/>
                  <a:pt x="39542" y="313373"/>
                  <a:pt x="51118" y="304691"/>
                </a:cubicBezTo>
                <a:lnTo>
                  <a:pt x="178263" y="209262"/>
                </a:lnTo>
                <a:lnTo>
                  <a:pt x="305501" y="304621"/>
                </a:lnTo>
                <a:cubicBezTo>
                  <a:pt x="317077" y="313303"/>
                  <a:pt x="335875" y="313303"/>
                  <a:pt x="347451" y="304621"/>
                </a:cubicBezTo>
                <a:cubicBezTo>
                  <a:pt x="359026" y="295940"/>
                  <a:pt x="359026" y="281841"/>
                  <a:pt x="347451" y="273159"/>
                </a:cubicBezTo>
                <a:lnTo>
                  <a:pt x="220213" y="177800"/>
                </a:lnTo>
                <a:lnTo>
                  <a:pt x="347358" y="82371"/>
                </a:lnTo>
                <a:cubicBezTo>
                  <a:pt x="358934" y="73690"/>
                  <a:pt x="358934" y="59591"/>
                  <a:pt x="347358" y="50909"/>
                </a:cubicBezTo>
                <a:cubicBezTo>
                  <a:pt x="335783" y="42228"/>
                  <a:pt x="316984" y="42228"/>
                  <a:pt x="305409" y="50909"/>
                </a:cubicBezTo>
                <a:lnTo>
                  <a:pt x="178263" y="146338"/>
                </a:lnTo>
                <a:lnTo>
                  <a:pt x="51025" y="50979"/>
                </a:lnTo>
                <a:close/>
              </a:path>
            </a:pathLst>
          </a:custGeom>
          <a:solidFill>
            <a:srgbClr val="C44E4E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2260600"/>
            <a:ext cx="6032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Substitution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24000" y="2616200"/>
            <a:ext cx="603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Treats a guess as if it were known. Reduces apparent variation and understates uncertainty.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45500" y="2095500"/>
            <a:ext cx="7048500" cy="1397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995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1025" y="50979"/>
                </a:moveTo>
                <a:cubicBezTo>
                  <a:pt x="39449" y="42297"/>
                  <a:pt x="20651" y="42297"/>
                  <a:pt x="9075" y="50979"/>
                </a:cubicBezTo>
                <a:cubicBezTo>
                  <a:pt x="-2500" y="59660"/>
                  <a:pt x="-2500" y="73759"/>
                  <a:pt x="9075" y="82441"/>
                </a:cubicBezTo>
                <a:lnTo>
                  <a:pt x="136313" y="177800"/>
                </a:lnTo>
                <a:lnTo>
                  <a:pt x="9168" y="273229"/>
                </a:lnTo>
                <a:cubicBezTo>
                  <a:pt x="-2408" y="281910"/>
                  <a:pt x="-2408" y="296009"/>
                  <a:pt x="9168" y="304691"/>
                </a:cubicBezTo>
                <a:cubicBezTo>
                  <a:pt x="20743" y="313373"/>
                  <a:pt x="39542" y="313373"/>
                  <a:pt x="51118" y="304691"/>
                </a:cubicBezTo>
                <a:lnTo>
                  <a:pt x="178263" y="209262"/>
                </a:lnTo>
                <a:lnTo>
                  <a:pt x="305501" y="304621"/>
                </a:lnTo>
                <a:cubicBezTo>
                  <a:pt x="317077" y="313303"/>
                  <a:pt x="335875" y="313303"/>
                  <a:pt x="347451" y="304621"/>
                </a:cubicBezTo>
                <a:cubicBezTo>
                  <a:pt x="359026" y="295940"/>
                  <a:pt x="359026" y="281841"/>
                  <a:pt x="347451" y="273159"/>
                </a:cubicBezTo>
                <a:lnTo>
                  <a:pt x="220213" y="177800"/>
                </a:lnTo>
                <a:lnTo>
                  <a:pt x="347358" y="82371"/>
                </a:lnTo>
                <a:cubicBezTo>
                  <a:pt x="358934" y="73690"/>
                  <a:pt x="358934" y="59591"/>
                  <a:pt x="347358" y="50909"/>
                </a:cubicBezTo>
                <a:cubicBezTo>
                  <a:pt x="335783" y="42228"/>
                  <a:pt x="316984" y="42228"/>
                  <a:pt x="305409" y="50909"/>
                </a:cubicBezTo>
                <a:lnTo>
                  <a:pt x="178263" y="146338"/>
                </a:lnTo>
                <a:lnTo>
                  <a:pt x="51025" y="50979"/>
                </a:lnTo>
                <a:close/>
              </a:path>
            </a:pathLst>
          </a:custGeom>
          <a:solidFill>
            <a:srgbClr val="C44E4E"/>
          </a:solidFill>
          <a:ln/>
        </p:spPr>
      </p:sp>
      <p:sp>
        <p:nvSpPr>
          <p:cNvPr id="17" name="Text 15"/>
          <p:cNvSpPr/>
          <p:nvPr/>
        </p:nvSpPr>
        <p:spPr>
          <a:xfrm>
            <a:off x="9207500" y="2260600"/>
            <a:ext cx="6032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Listwise Deletion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07500" y="2616200"/>
            <a:ext cx="603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remove a systematically different group. The remaining sample may no longer represent the target population.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3810000"/>
            <a:ext cx="14732000" cy="1143000"/>
          </a:xfrm>
          <a:prstGeom prst="rect">
            <a:avLst/>
          </a:prstGeom>
          <a:solidFill>
            <a:srgbClr val="2D4A52">
              <a:alpha val="823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3810000"/>
            <a:ext cx="50800" cy="1143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3911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1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16000" y="42164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highly stressed employees are more likely to omit salary, deleting incomplete records can weaken the observed salary-stress relationship.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2000" y="533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Modern Approach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62000" y="5842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missing-data theory developed strongly through the work of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Little and Rubin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related scholarship. The key insight: missing data is not just a technical inconvenience — it is a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 problem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requires understanding the mechanism behind the missingness.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7112000"/>
            <a:ext cx="14732000" cy="762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71120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Old: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Ignore or simplify missingness  →  </a:t>
            </a:r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New: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the missingness mechanism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 — MI and ML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7048500" cy="3556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2D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1587500" y="18415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Imputation (MI)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16000" y="2476500"/>
            <a:ext cx="654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several plausible versions of each missing value, analyzes each completed dataset, and combines the estimates while accounting for imputation uncertainty.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3746500"/>
            <a:ext cx="654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Impute missing values multiple times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Analyze each completed dataset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Combine estimates using Rubin's rules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45500" y="1587500"/>
            <a:ext cx="7048500" cy="3556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995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67733" y="0"/>
                </a:moveTo>
                <a:cubicBezTo>
                  <a:pt x="30374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30374" y="406400"/>
                  <a:pt x="67733" y="406400"/>
                </a:cubicBezTo>
                <a:lnTo>
                  <a:pt x="338667" y="406400"/>
                </a:lnTo>
                <a:cubicBezTo>
                  <a:pt x="376026" y="406400"/>
                  <a:pt x="406400" y="383619"/>
                  <a:pt x="406400" y="355600"/>
                </a:cubicBezTo>
                <a:lnTo>
                  <a:pt x="406400" y="50800"/>
                </a:lnTo>
                <a:cubicBezTo>
                  <a:pt x="406400" y="22781"/>
                  <a:pt x="376026" y="0"/>
                  <a:pt x="338667" y="0"/>
                </a:cubicBezTo>
                <a:lnTo>
                  <a:pt x="67733" y="0"/>
                </a:lnTo>
                <a:close/>
                <a:moveTo>
                  <a:pt x="101600" y="50800"/>
                </a:moveTo>
                <a:lnTo>
                  <a:pt x="304800" y="50800"/>
                </a:lnTo>
                <a:cubicBezTo>
                  <a:pt x="323533" y="50800"/>
                  <a:pt x="338667" y="62151"/>
                  <a:pt x="338667" y="76200"/>
                </a:cubicBezTo>
                <a:lnTo>
                  <a:pt x="338667" y="101600"/>
                </a:lnTo>
                <a:cubicBezTo>
                  <a:pt x="338667" y="115649"/>
                  <a:pt x="323533" y="127000"/>
                  <a:pt x="304800" y="127000"/>
                </a:cubicBezTo>
                <a:lnTo>
                  <a:pt x="101600" y="127000"/>
                </a:lnTo>
                <a:cubicBezTo>
                  <a:pt x="82867" y="127000"/>
                  <a:pt x="67733" y="115649"/>
                  <a:pt x="67733" y="101600"/>
                </a:cubicBezTo>
                <a:lnTo>
                  <a:pt x="67733" y="76200"/>
                </a:lnTo>
                <a:cubicBezTo>
                  <a:pt x="67733" y="62151"/>
                  <a:pt x="82867" y="50800"/>
                  <a:pt x="101600" y="50800"/>
                </a:cubicBezTo>
                <a:close/>
                <a:moveTo>
                  <a:pt x="118533" y="184150"/>
                </a:moveTo>
                <a:cubicBezTo>
                  <a:pt x="118533" y="194664"/>
                  <a:pt x="107152" y="203200"/>
                  <a:pt x="93133" y="203200"/>
                </a:cubicBezTo>
                <a:cubicBezTo>
                  <a:pt x="79115" y="203200"/>
                  <a:pt x="67733" y="194664"/>
                  <a:pt x="67733" y="184150"/>
                </a:cubicBezTo>
                <a:cubicBezTo>
                  <a:pt x="67733" y="173636"/>
                  <a:pt x="79115" y="165100"/>
                  <a:pt x="93133" y="165100"/>
                </a:cubicBezTo>
                <a:cubicBezTo>
                  <a:pt x="107152" y="165100"/>
                  <a:pt x="118533" y="173636"/>
                  <a:pt x="118533" y="184150"/>
                </a:cubicBezTo>
                <a:close/>
                <a:moveTo>
                  <a:pt x="203200" y="203200"/>
                </a:moveTo>
                <a:cubicBezTo>
                  <a:pt x="189181" y="203200"/>
                  <a:pt x="177800" y="194664"/>
                  <a:pt x="177800" y="184150"/>
                </a:cubicBezTo>
                <a:cubicBezTo>
                  <a:pt x="177800" y="173636"/>
                  <a:pt x="189181" y="165100"/>
                  <a:pt x="203200" y="165100"/>
                </a:cubicBezTo>
                <a:cubicBezTo>
                  <a:pt x="217219" y="165100"/>
                  <a:pt x="228600" y="173636"/>
                  <a:pt x="228600" y="184150"/>
                </a:cubicBezTo>
                <a:cubicBezTo>
                  <a:pt x="228600" y="194664"/>
                  <a:pt x="217219" y="203200"/>
                  <a:pt x="203200" y="203200"/>
                </a:cubicBezTo>
                <a:close/>
                <a:moveTo>
                  <a:pt x="338667" y="184150"/>
                </a:moveTo>
                <a:cubicBezTo>
                  <a:pt x="338667" y="194664"/>
                  <a:pt x="327285" y="203200"/>
                  <a:pt x="313267" y="203200"/>
                </a:cubicBezTo>
                <a:cubicBezTo>
                  <a:pt x="299248" y="203200"/>
                  <a:pt x="287867" y="194664"/>
                  <a:pt x="287867" y="184150"/>
                </a:cubicBezTo>
                <a:cubicBezTo>
                  <a:pt x="287867" y="173636"/>
                  <a:pt x="299248" y="165100"/>
                  <a:pt x="313267" y="165100"/>
                </a:cubicBezTo>
                <a:cubicBezTo>
                  <a:pt x="327285" y="165100"/>
                  <a:pt x="338667" y="173636"/>
                  <a:pt x="338667" y="184150"/>
                </a:cubicBezTo>
                <a:close/>
                <a:moveTo>
                  <a:pt x="93133" y="279400"/>
                </a:moveTo>
                <a:cubicBezTo>
                  <a:pt x="79115" y="279400"/>
                  <a:pt x="67733" y="270864"/>
                  <a:pt x="67733" y="260350"/>
                </a:cubicBezTo>
                <a:cubicBezTo>
                  <a:pt x="67733" y="249836"/>
                  <a:pt x="79115" y="241300"/>
                  <a:pt x="93133" y="241300"/>
                </a:cubicBezTo>
                <a:cubicBezTo>
                  <a:pt x="107152" y="241300"/>
                  <a:pt x="118533" y="249836"/>
                  <a:pt x="118533" y="260350"/>
                </a:cubicBezTo>
                <a:cubicBezTo>
                  <a:pt x="118533" y="270864"/>
                  <a:pt x="107152" y="279400"/>
                  <a:pt x="93133" y="279400"/>
                </a:cubicBezTo>
                <a:close/>
                <a:moveTo>
                  <a:pt x="228600" y="260350"/>
                </a:moveTo>
                <a:cubicBezTo>
                  <a:pt x="228600" y="270864"/>
                  <a:pt x="217219" y="279400"/>
                  <a:pt x="203200" y="279400"/>
                </a:cubicBezTo>
                <a:cubicBezTo>
                  <a:pt x="189181" y="279400"/>
                  <a:pt x="177800" y="270864"/>
                  <a:pt x="177800" y="260350"/>
                </a:cubicBezTo>
                <a:cubicBezTo>
                  <a:pt x="177800" y="249836"/>
                  <a:pt x="189181" y="241300"/>
                  <a:pt x="203200" y="241300"/>
                </a:cubicBezTo>
                <a:cubicBezTo>
                  <a:pt x="217219" y="241300"/>
                  <a:pt x="228600" y="249836"/>
                  <a:pt x="228600" y="260350"/>
                </a:cubicBezTo>
                <a:close/>
                <a:moveTo>
                  <a:pt x="313267" y="279400"/>
                </a:moveTo>
                <a:cubicBezTo>
                  <a:pt x="299248" y="279400"/>
                  <a:pt x="287867" y="270864"/>
                  <a:pt x="287867" y="260350"/>
                </a:cubicBezTo>
                <a:cubicBezTo>
                  <a:pt x="287867" y="249836"/>
                  <a:pt x="299248" y="241300"/>
                  <a:pt x="313267" y="241300"/>
                </a:cubicBezTo>
                <a:cubicBezTo>
                  <a:pt x="327285" y="241300"/>
                  <a:pt x="338667" y="249836"/>
                  <a:pt x="338667" y="260350"/>
                </a:cubicBezTo>
                <a:cubicBezTo>
                  <a:pt x="338667" y="270864"/>
                  <a:pt x="327285" y="279400"/>
                  <a:pt x="313267" y="279400"/>
                </a:cubicBezTo>
                <a:close/>
                <a:moveTo>
                  <a:pt x="67733" y="336550"/>
                </a:moveTo>
                <a:cubicBezTo>
                  <a:pt x="67733" y="325993"/>
                  <a:pt x="79058" y="317500"/>
                  <a:pt x="93133" y="317500"/>
                </a:cubicBezTo>
                <a:lnTo>
                  <a:pt x="211667" y="317500"/>
                </a:lnTo>
                <a:cubicBezTo>
                  <a:pt x="225743" y="317500"/>
                  <a:pt x="237067" y="325993"/>
                  <a:pt x="237067" y="336550"/>
                </a:cubicBezTo>
                <a:cubicBezTo>
                  <a:pt x="237067" y="347107"/>
                  <a:pt x="225743" y="355600"/>
                  <a:pt x="211667" y="355600"/>
                </a:cubicBezTo>
                <a:lnTo>
                  <a:pt x="93133" y="355600"/>
                </a:lnTo>
                <a:cubicBezTo>
                  <a:pt x="79058" y="355600"/>
                  <a:pt x="67733" y="347107"/>
                  <a:pt x="67733" y="336550"/>
                </a:cubicBezTo>
                <a:close/>
                <a:moveTo>
                  <a:pt x="313267" y="317500"/>
                </a:moveTo>
                <a:cubicBezTo>
                  <a:pt x="327343" y="317500"/>
                  <a:pt x="338667" y="325993"/>
                  <a:pt x="338667" y="336550"/>
                </a:cubicBezTo>
                <a:cubicBezTo>
                  <a:pt x="338667" y="347107"/>
                  <a:pt x="327343" y="355600"/>
                  <a:pt x="313267" y="355600"/>
                </a:cubicBezTo>
                <a:cubicBezTo>
                  <a:pt x="299191" y="355600"/>
                  <a:pt x="287867" y="347107"/>
                  <a:pt x="287867" y="336550"/>
                </a:cubicBezTo>
                <a:cubicBezTo>
                  <a:pt x="287867" y="325993"/>
                  <a:pt x="299191" y="317500"/>
                  <a:pt x="313267" y="317500"/>
                </a:cubicBezTo>
                <a:close/>
              </a:path>
            </a:pathLst>
          </a:custGeom>
          <a:solidFill>
            <a:srgbClr val="2D4A52"/>
          </a:solidFill>
          <a:ln/>
        </p:spPr>
      </p:sp>
      <p:sp>
        <p:nvSpPr>
          <p:cNvPr id="17" name="Text 15"/>
          <p:cNvSpPr/>
          <p:nvPr/>
        </p:nvSpPr>
        <p:spPr>
          <a:xfrm>
            <a:off x="9271000" y="18415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Likelihood (ML)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99500" y="2476500"/>
            <a:ext cx="654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all observed information to estimate the most plausible model parameters without necessarily filling every blank cell.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99500" y="3746500"/>
            <a:ext cx="654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Specify the analysis model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Use all available data to estimate parameters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Obtain unbiased estimates with correct SEs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000" y="5524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Goals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62000" y="6223000"/>
            <a:ext cx="7048500" cy="508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632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3" name="Text 21"/>
          <p:cNvSpPr/>
          <p:nvPr/>
        </p:nvSpPr>
        <p:spPr>
          <a:xfrm>
            <a:off x="1460500" y="6223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Obtain approximately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unbiased parameter estimates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45500" y="6223000"/>
            <a:ext cx="7048500" cy="508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25" name="Shape 23"/>
          <p:cNvSpPr/>
          <p:nvPr/>
        </p:nvSpPr>
        <p:spPr>
          <a:xfrm>
            <a:off x="8699500" y="632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6223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 uncertainty correctly through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 and CIs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7366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 do not pretend that imputed values are known facts.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Missingness Mechanisms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62000" y="46990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953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MCAR, MAR, and NMAR — the three fundamental mechanisms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how they determine analysis strategy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Three Models Framework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4699000" cy="2540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17145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78000" y="1714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" y="2286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Answers the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substantive research question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Example: Does therapy reduce depression?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52500" y="3175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Therapy → 6-month depression score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78500" y="1587500"/>
            <a:ext cx="4699000" cy="2540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6" name="Text 14"/>
          <p:cNvSpPr/>
          <p:nvPr/>
        </p:nvSpPr>
        <p:spPr>
          <a:xfrm>
            <a:off x="5969000" y="17145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94500" y="1714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Creation Model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69000" y="2286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Describes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or why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became missing. Example: Severe symptoms cause dropout.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69000" y="3175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Severity, age, dissatisfaction → Dropout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795000" y="1587500"/>
            <a:ext cx="4699000" cy="2540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21" name="Text 19"/>
          <p:cNvSpPr/>
          <p:nvPr/>
        </p:nvSpPr>
        <p:spPr>
          <a:xfrm>
            <a:off x="10985500" y="17145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1811000" y="1714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of Missingness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85500" y="2286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missingness statistically, often through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or ML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methods.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85500" y="3175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age, prior depression in MI/ML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2000" y="450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Example: Anti-Smoking Programme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080000"/>
          <a:ext cx="14732000" cy="2540000"/>
        </p:xfrm>
        <a:graphic>
          <a:graphicData uri="http://schemas.openxmlformats.org/drawingml/2006/table">
            <a:tbl>
              <a:tblPr/>
              <a:tblGrid>
                <a:gridCol w="2209800"/>
                <a:gridCol w="3683000"/>
                <a:gridCol w="883920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Symbol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Variable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Role in the Study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X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Programme participation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Predictor in the analysis model — did the participant join the programme?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Later cigarette smoking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Outcome variable — sometimes missing for dropouts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Z / 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Rebelliousness, GPA, mobility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Z = cause of missingness; R = indicator (1 = observed, 0 = missing)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X, Y, Z and 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3429000" cy="2286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17145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778000" y="1778000"/>
            <a:ext cx="222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Predictor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2500" y="2476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primary predictor in the substantive analysis model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21200" y="1587500"/>
            <a:ext cx="3429000" cy="2286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5" name="Text 13"/>
          <p:cNvSpPr/>
          <p:nvPr/>
        </p:nvSpPr>
        <p:spPr>
          <a:xfrm>
            <a:off x="4711700" y="17145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5537200" y="1778000"/>
            <a:ext cx="222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11700" y="2476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outcome variable that is sometimes missing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80400" y="1587500"/>
            <a:ext cx="3429000" cy="2286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9" name="Text 17"/>
          <p:cNvSpPr/>
          <p:nvPr/>
        </p:nvSpPr>
        <p:spPr>
          <a:xfrm>
            <a:off x="8470900" y="17145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296400" y="1778000"/>
            <a:ext cx="222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Cause of Missingness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70900" y="2476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predictor or cause of why data became missing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039600" y="1587500"/>
            <a:ext cx="3429000" cy="2286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23" name="Text 21"/>
          <p:cNvSpPr/>
          <p:nvPr/>
        </p:nvSpPr>
        <p:spPr>
          <a:xfrm>
            <a:off x="12230100" y="17145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3055600" y="1778000"/>
            <a:ext cx="222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Indicator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230100" y="2476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 = 1 when Y is observed; R = 0 when Y is missing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2000" y="431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Relationships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62000" y="4889500"/>
            <a:ext cx="14732000" cy="1524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501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relationship: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 → 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16000" y="5461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Missingness process: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 → R</a:t>
            </a:r>
            <a:pPr algn="l">
              <a:lnSpc>
                <a:spcPct val="120000"/>
              </a:lnSpc>
            </a:pPr>
            <a:r>
              <a:rPr lang="en-US" sz="1800" baseline="-40000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128000" y="50165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pPr algn="l">
              <a:lnSpc>
                <a:spcPct val="170000"/>
              </a:lnSpc>
            </a:pPr>
            <a:r>
              <a:rPr lang="en-US" sz="1500" baseline="-400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XY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programme and smoking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pPr algn="l">
              <a:lnSpc>
                <a:spcPct val="170000"/>
              </a:lnSpc>
            </a:pPr>
            <a:r>
              <a:rPr lang="en-US" sz="1500" baseline="-400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ZY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rebelliousness and smoking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pPr algn="l">
              <a:lnSpc>
                <a:spcPct val="170000"/>
              </a:lnSpc>
            </a:pPr>
            <a:r>
              <a:rPr lang="en-US" sz="1500" baseline="-400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ZR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rebelliousness and observed smoking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62000" y="6604000"/>
            <a:ext cx="14732000" cy="1270000"/>
          </a:xfrm>
          <a:prstGeom prst="rect">
            <a:avLst/>
          </a:prstGeom>
          <a:solidFill>
            <a:srgbClr val="2D4A52">
              <a:alpha val="8235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62000" y="6604000"/>
            <a:ext cx="50800" cy="1270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000" y="6731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notation is role-based. The same real-world variable can play different statistical roles in different models. If income is X in the main model but becomes missing, it becomes the target of its own imputation model.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MCAR — Missing Completely at Random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14732000" cy="889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651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Missingness is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unrelated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the missing value and to other observed or unobserved outcome-related information.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2000" y="3365500"/>
            <a:ext cx="4699000" cy="1524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84573" y="19050"/>
                </a:moveTo>
                <a:cubicBezTo>
                  <a:pt x="180287" y="27444"/>
                  <a:pt x="177800" y="37207"/>
                  <a:pt x="177800" y="47625"/>
                </a:cubicBezTo>
                <a:lnTo>
                  <a:pt x="177800" y="57150"/>
                </a:lnTo>
                <a:lnTo>
                  <a:pt x="33867" y="57150"/>
                </a:lnTo>
                <a:lnTo>
                  <a:pt x="33867" y="190500"/>
                </a:lnTo>
                <a:lnTo>
                  <a:pt x="177800" y="190500"/>
                </a:lnTo>
                <a:lnTo>
                  <a:pt x="177800" y="228600"/>
                </a:lnTo>
                <a:lnTo>
                  <a:pt x="33867" y="228600"/>
                </a:lnTo>
                <a:cubicBezTo>
                  <a:pt x="15187" y="228600"/>
                  <a:pt x="0" y="211515"/>
                  <a:pt x="0" y="190500"/>
                </a:cubicBezTo>
                <a:lnTo>
                  <a:pt x="0" y="57150"/>
                </a:lnTo>
                <a:cubicBezTo>
                  <a:pt x="0" y="36135"/>
                  <a:pt x="15187" y="19050"/>
                  <a:pt x="33867" y="19050"/>
                </a:cubicBezTo>
                <a:lnTo>
                  <a:pt x="184573" y="19050"/>
                </a:lnTo>
                <a:close/>
                <a:moveTo>
                  <a:pt x="177800" y="257175"/>
                </a:moveTo>
                <a:cubicBezTo>
                  <a:pt x="177800" y="267593"/>
                  <a:pt x="180287" y="277356"/>
                  <a:pt x="184573" y="285750"/>
                </a:cubicBezTo>
                <a:lnTo>
                  <a:pt x="63500" y="285750"/>
                </a:lnTo>
                <a:cubicBezTo>
                  <a:pt x="56462" y="285750"/>
                  <a:pt x="50800" y="279380"/>
                  <a:pt x="50800" y="271463"/>
                </a:cubicBezTo>
                <a:cubicBezTo>
                  <a:pt x="50800" y="263545"/>
                  <a:pt x="56462" y="257175"/>
                  <a:pt x="63500" y="257175"/>
                </a:cubicBezTo>
                <a:lnTo>
                  <a:pt x="177800" y="257175"/>
                </a:lnTo>
                <a:close/>
                <a:moveTo>
                  <a:pt x="228600" y="19050"/>
                </a:moveTo>
                <a:lnTo>
                  <a:pt x="279400" y="19050"/>
                </a:lnTo>
                <a:cubicBezTo>
                  <a:pt x="293423" y="19050"/>
                  <a:pt x="304800" y="31849"/>
                  <a:pt x="304800" y="47625"/>
                </a:cubicBezTo>
                <a:lnTo>
                  <a:pt x="304800" y="257175"/>
                </a:lnTo>
                <a:cubicBezTo>
                  <a:pt x="304800" y="272951"/>
                  <a:pt x="293423" y="285750"/>
                  <a:pt x="279400" y="285750"/>
                </a:cubicBezTo>
                <a:lnTo>
                  <a:pt x="228600" y="285750"/>
                </a:lnTo>
                <a:cubicBezTo>
                  <a:pt x="214577" y="285750"/>
                  <a:pt x="203200" y="272951"/>
                  <a:pt x="203200" y="257175"/>
                </a:cubicBezTo>
                <a:lnTo>
                  <a:pt x="203200" y="47625"/>
                </a:lnTo>
                <a:cubicBezTo>
                  <a:pt x="203200" y="31849"/>
                  <a:pt x="214577" y="19050"/>
                  <a:pt x="228600" y="19050"/>
                </a:cubicBezTo>
                <a:close/>
                <a:moveTo>
                  <a:pt x="241300" y="57150"/>
                </a:moveTo>
                <a:cubicBezTo>
                  <a:pt x="234262" y="57150"/>
                  <a:pt x="228600" y="63520"/>
                  <a:pt x="228600" y="71438"/>
                </a:cubicBezTo>
                <a:cubicBezTo>
                  <a:pt x="228600" y="79355"/>
                  <a:pt x="234262" y="85725"/>
                  <a:pt x="241300" y="85725"/>
                </a:cubicBezTo>
                <a:lnTo>
                  <a:pt x="266700" y="85725"/>
                </a:lnTo>
                <a:cubicBezTo>
                  <a:pt x="273738" y="85725"/>
                  <a:pt x="279400" y="79355"/>
                  <a:pt x="279400" y="71438"/>
                </a:cubicBezTo>
                <a:cubicBezTo>
                  <a:pt x="279400" y="63520"/>
                  <a:pt x="273738" y="57150"/>
                  <a:pt x="266700" y="57150"/>
                </a:cubicBezTo>
                <a:lnTo>
                  <a:pt x="241300" y="57150"/>
                </a:lnTo>
                <a:close/>
                <a:moveTo>
                  <a:pt x="241300" y="114300"/>
                </a:moveTo>
                <a:cubicBezTo>
                  <a:pt x="234262" y="114300"/>
                  <a:pt x="228600" y="120670"/>
                  <a:pt x="228600" y="128588"/>
                </a:cubicBezTo>
                <a:cubicBezTo>
                  <a:pt x="228600" y="136505"/>
                  <a:pt x="234262" y="142875"/>
                  <a:pt x="241300" y="142875"/>
                </a:cubicBezTo>
                <a:lnTo>
                  <a:pt x="266700" y="142875"/>
                </a:lnTo>
                <a:cubicBezTo>
                  <a:pt x="273738" y="142875"/>
                  <a:pt x="279400" y="136505"/>
                  <a:pt x="279400" y="128588"/>
                </a:cubicBezTo>
                <a:cubicBezTo>
                  <a:pt x="279400" y="120670"/>
                  <a:pt x="273738" y="114300"/>
                  <a:pt x="266700" y="114300"/>
                </a:cubicBezTo>
                <a:lnTo>
                  <a:pt x="241300" y="114300"/>
                </a:lnTo>
                <a:close/>
                <a:moveTo>
                  <a:pt x="270933" y="200025"/>
                </a:moveTo>
                <a:cubicBezTo>
                  <a:pt x="270933" y="189511"/>
                  <a:pt x="263346" y="180975"/>
                  <a:pt x="254000" y="180975"/>
                </a:cubicBezTo>
                <a:cubicBezTo>
                  <a:pt x="244654" y="180975"/>
                  <a:pt x="237067" y="189511"/>
                  <a:pt x="237067" y="200025"/>
                </a:cubicBezTo>
                <a:cubicBezTo>
                  <a:pt x="237067" y="210539"/>
                  <a:pt x="244654" y="219075"/>
                  <a:pt x="254000" y="219075"/>
                </a:cubicBezTo>
                <a:cubicBezTo>
                  <a:pt x="263346" y="219075"/>
                  <a:pt x="270933" y="210539"/>
                  <a:pt x="270933" y="200025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39624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random computer failure deletes some responses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78500" y="3365500"/>
            <a:ext cx="4699000" cy="1524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25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0387" y="20479"/>
                </a:moveTo>
                <a:cubicBezTo>
                  <a:pt x="247531" y="17502"/>
                  <a:pt x="255687" y="19169"/>
                  <a:pt x="261164" y="24586"/>
                </a:cubicBezTo>
                <a:lnTo>
                  <a:pt x="299264" y="62686"/>
                </a:lnTo>
                <a:cubicBezTo>
                  <a:pt x="302835" y="66258"/>
                  <a:pt x="304860" y="71080"/>
                  <a:pt x="304860" y="76140"/>
                </a:cubicBezTo>
                <a:cubicBezTo>
                  <a:pt x="304860" y="81201"/>
                  <a:pt x="302835" y="86023"/>
                  <a:pt x="299264" y="89595"/>
                </a:cubicBezTo>
                <a:lnTo>
                  <a:pt x="261164" y="127695"/>
                </a:lnTo>
                <a:cubicBezTo>
                  <a:pt x="255687" y="133171"/>
                  <a:pt x="247531" y="134779"/>
                  <a:pt x="240387" y="131802"/>
                </a:cubicBezTo>
                <a:cubicBezTo>
                  <a:pt x="233243" y="128826"/>
                  <a:pt x="228600" y="121980"/>
                  <a:pt x="228600" y="114300"/>
                </a:cubicBezTo>
                <a:lnTo>
                  <a:pt x="228600" y="95250"/>
                </a:lnTo>
                <a:lnTo>
                  <a:pt x="209550" y="95250"/>
                </a:lnTo>
                <a:cubicBezTo>
                  <a:pt x="203537" y="95250"/>
                  <a:pt x="197882" y="98048"/>
                  <a:pt x="194310" y="102870"/>
                </a:cubicBezTo>
                <a:lnTo>
                  <a:pt x="175022" y="128588"/>
                </a:lnTo>
                <a:lnTo>
                  <a:pt x="151209" y="96857"/>
                </a:lnTo>
                <a:lnTo>
                  <a:pt x="163830" y="80010"/>
                </a:lnTo>
                <a:cubicBezTo>
                  <a:pt x="174605" y="65603"/>
                  <a:pt x="191572" y="57150"/>
                  <a:pt x="209550" y="57150"/>
                </a:cubicBezTo>
                <a:lnTo>
                  <a:pt x="228600" y="57150"/>
                </a:lnTo>
                <a:lnTo>
                  <a:pt x="228600" y="38100"/>
                </a:lnTo>
                <a:cubicBezTo>
                  <a:pt x="228600" y="30420"/>
                  <a:pt x="233243" y="23455"/>
                  <a:pt x="240387" y="20479"/>
                </a:cubicBezTo>
                <a:close/>
                <a:moveTo>
                  <a:pt x="91678" y="176212"/>
                </a:moveTo>
                <a:lnTo>
                  <a:pt x="115491" y="207943"/>
                </a:lnTo>
                <a:lnTo>
                  <a:pt x="102870" y="224790"/>
                </a:lnTo>
                <a:cubicBezTo>
                  <a:pt x="92095" y="239197"/>
                  <a:pt x="75128" y="247650"/>
                  <a:pt x="57150" y="247650"/>
                </a:cubicBezTo>
                <a:lnTo>
                  <a:pt x="19050" y="247650"/>
                </a:lnTo>
                <a:cubicBezTo>
                  <a:pt x="8513" y="247650"/>
                  <a:pt x="0" y="239137"/>
                  <a:pt x="0" y="228600"/>
                </a:cubicBezTo>
                <a:cubicBezTo>
                  <a:pt x="0" y="218063"/>
                  <a:pt x="8513" y="209550"/>
                  <a:pt x="19050" y="209550"/>
                </a:cubicBezTo>
                <a:lnTo>
                  <a:pt x="57150" y="209550"/>
                </a:lnTo>
                <a:cubicBezTo>
                  <a:pt x="63163" y="209550"/>
                  <a:pt x="68818" y="206752"/>
                  <a:pt x="72390" y="201930"/>
                </a:cubicBezTo>
                <a:lnTo>
                  <a:pt x="91678" y="176212"/>
                </a:lnTo>
                <a:close/>
                <a:moveTo>
                  <a:pt x="261104" y="280154"/>
                </a:moveTo>
                <a:cubicBezTo>
                  <a:pt x="255627" y="285631"/>
                  <a:pt x="247471" y="287238"/>
                  <a:pt x="240328" y="284262"/>
                </a:cubicBezTo>
                <a:cubicBezTo>
                  <a:pt x="233184" y="281285"/>
                  <a:pt x="228600" y="274380"/>
                  <a:pt x="228600" y="266700"/>
                </a:cubicBezTo>
                <a:lnTo>
                  <a:pt x="228600" y="247650"/>
                </a:lnTo>
                <a:lnTo>
                  <a:pt x="209550" y="247650"/>
                </a:lnTo>
                <a:cubicBezTo>
                  <a:pt x="191572" y="247650"/>
                  <a:pt x="174605" y="239197"/>
                  <a:pt x="163830" y="224790"/>
                </a:cubicBezTo>
                <a:lnTo>
                  <a:pt x="72390" y="102870"/>
                </a:lnTo>
                <a:cubicBezTo>
                  <a:pt x="68818" y="98048"/>
                  <a:pt x="63163" y="95250"/>
                  <a:pt x="57150" y="95250"/>
                </a:cubicBez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57150" y="57150"/>
                </a:lnTo>
                <a:cubicBezTo>
                  <a:pt x="75128" y="57150"/>
                  <a:pt x="92095" y="65603"/>
                  <a:pt x="102870" y="80010"/>
                </a:cubicBezTo>
                <a:lnTo>
                  <a:pt x="194310" y="201930"/>
                </a:lnTo>
                <a:cubicBezTo>
                  <a:pt x="197882" y="206752"/>
                  <a:pt x="203537" y="209550"/>
                  <a:pt x="209550" y="209550"/>
                </a:cubicBezTo>
                <a:lnTo>
                  <a:pt x="228600" y="209550"/>
                </a:lnTo>
                <a:lnTo>
                  <a:pt x="228600" y="190500"/>
                </a:lnTo>
                <a:cubicBezTo>
                  <a:pt x="228600" y="182820"/>
                  <a:pt x="233243" y="175855"/>
                  <a:pt x="240387" y="172879"/>
                </a:cubicBezTo>
                <a:cubicBezTo>
                  <a:pt x="247531" y="169902"/>
                  <a:pt x="255687" y="171569"/>
                  <a:pt x="261164" y="176986"/>
                </a:cubicBezTo>
                <a:lnTo>
                  <a:pt x="299264" y="215086"/>
                </a:lnTo>
                <a:cubicBezTo>
                  <a:pt x="302835" y="218658"/>
                  <a:pt x="304860" y="223480"/>
                  <a:pt x="304860" y="228540"/>
                </a:cubicBezTo>
                <a:cubicBezTo>
                  <a:pt x="304860" y="233601"/>
                  <a:pt x="302835" y="238423"/>
                  <a:pt x="299264" y="241995"/>
                </a:cubicBezTo>
                <a:lnTo>
                  <a:pt x="261164" y="280095"/>
                </a:ln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18" name="Text 16"/>
          <p:cNvSpPr/>
          <p:nvPr/>
        </p:nvSpPr>
        <p:spPr>
          <a:xfrm>
            <a:off x="6032500" y="39624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random process determines which survey form a participant receives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795000" y="3365500"/>
            <a:ext cx="4699000" cy="1524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490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" y="19050"/>
                </a:moveTo>
                <a:cubicBezTo>
                  <a:pt x="13668" y="19050"/>
                  <a:pt x="0" y="36135"/>
                  <a:pt x="0" y="57150"/>
                </a:cubicBezTo>
                <a:lnTo>
                  <a:pt x="0" y="252413"/>
                </a:lnTo>
                <a:cubicBezTo>
                  <a:pt x="0" y="281345"/>
                  <a:pt x="18764" y="304800"/>
                  <a:pt x="41910" y="304800"/>
                </a:cubicBezTo>
                <a:cubicBezTo>
                  <a:pt x="53911" y="304800"/>
                  <a:pt x="64770" y="298490"/>
                  <a:pt x="72390" y="288369"/>
                </a:cubicBezTo>
                <a:cubicBezTo>
                  <a:pt x="80010" y="298490"/>
                  <a:pt x="90869" y="304800"/>
                  <a:pt x="102870" y="304800"/>
                </a:cubicBezTo>
                <a:cubicBezTo>
                  <a:pt x="122063" y="304800"/>
                  <a:pt x="138208" y="288667"/>
                  <a:pt x="143208" y="266700"/>
                </a:cubicBezTo>
                <a:lnTo>
                  <a:pt x="207312" y="266700"/>
                </a:lnTo>
                <a:cubicBezTo>
                  <a:pt x="212265" y="288667"/>
                  <a:pt x="228457" y="304800"/>
                  <a:pt x="247650" y="304800"/>
                </a:cubicBezTo>
                <a:cubicBezTo>
                  <a:pt x="268129" y="304800"/>
                  <a:pt x="285226" y="286405"/>
                  <a:pt x="288846" y="262116"/>
                </a:cubicBezTo>
                <a:cubicBezTo>
                  <a:pt x="298371" y="255687"/>
                  <a:pt x="304800" y="243066"/>
                  <a:pt x="304800" y="228600"/>
                </a:cubicBezTo>
                <a:lnTo>
                  <a:pt x="304800" y="141268"/>
                </a:lnTo>
                <a:cubicBezTo>
                  <a:pt x="304800" y="131147"/>
                  <a:pt x="301609" y="121444"/>
                  <a:pt x="295894" y="114300"/>
                </a:cubicBezTo>
                <a:lnTo>
                  <a:pt x="274320" y="87332"/>
                </a:lnTo>
                <a:cubicBezTo>
                  <a:pt x="268605" y="80189"/>
                  <a:pt x="260842" y="76200"/>
                  <a:pt x="252746" y="76200"/>
                </a:cubicBezTo>
                <a:lnTo>
                  <a:pt x="228600" y="76200"/>
                </a:lnTo>
                <a:lnTo>
                  <a:pt x="228600" y="57150"/>
                </a:lnTo>
                <a:cubicBezTo>
                  <a:pt x="228600" y="36135"/>
                  <a:pt x="214932" y="19050"/>
                  <a:pt x="198120" y="19050"/>
                </a:cubicBezTo>
                <a:lnTo>
                  <a:pt x="30480" y="19050"/>
                </a:lnTo>
                <a:close/>
                <a:moveTo>
                  <a:pt x="228600" y="114300"/>
                </a:moveTo>
                <a:lnTo>
                  <a:pt x="252746" y="114300"/>
                </a:lnTo>
                <a:lnTo>
                  <a:pt x="274320" y="141268"/>
                </a:lnTo>
                <a:lnTo>
                  <a:pt x="274320" y="171450"/>
                </a:lnTo>
                <a:lnTo>
                  <a:pt x="228600" y="171450"/>
                </a:lnTo>
                <a:lnTo>
                  <a:pt x="228600" y="114300"/>
                </a:lnTo>
                <a:close/>
                <a:moveTo>
                  <a:pt x="41910" y="228600"/>
                </a:moveTo>
                <a:cubicBezTo>
                  <a:pt x="52424" y="228600"/>
                  <a:pt x="60960" y="239270"/>
                  <a:pt x="60960" y="252413"/>
                </a:cubicBezTo>
                <a:cubicBezTo>
                  <a:pt x="60960" y="265555"/>
                  <a:pt x="52424" y="276225"/>
                  <a:pt x="41910" y="276225"/>
                </a:cubicBezTo>
                <a:cubicBezTo>
                  <a:pt x="31396" y="276225"/>
                  <a:pt x="22860" y="265555"/>
                  <a:pt x="22860" y="252413"/>
                </a:cubicBezTo>
                <a:cubicBezTo>
                  <a:pt x="22860" y="239270"/>
                  <a:pt x="31396" y="228600"/>
                  <a:pt x="41910" y="228600"/>
                </a:cubicBezTo>
                <a:close/>
                <a:moveTo>
                  <a:pt x="228600" y="252413"/>
                </a:moveTo>
                <a:cubicBezTo>
                  <a:pt x="228600" y="239270"/>
                  <a:pt x="237136" y="228600"/>
                  <a:pt x="247650" y="228600"/>
                </a:cubicBezTo>
                <a:cubicBezTo>
                  <a:pt x="258164" y="228600"/>
                  <a:pt x="266700" y="239270"/>
                  <a:pt x="266700" y="252413"/>
                </a:cubicBezTo>
                <a:cubicBezTo>
                  <a:pt x="266700" y="265555"/>
                  <a:pt x="258164" y="276225"/>
                  <a:pt x="247650" y="276225"/>
                </a:cubicBezTo>
                <a:cubicBezTo>
                  <a:pt x="237136" y="276225"/>
                  <a:pt x="228600" y="265555"/>
                  <a:pt x="228600" y="252413"/>
                </a:cubicBezTo>
                <a:close/>
                <a:moveTo>
                  <a:pt x="102870" y="228600"/>
                </a:moveTo>
                <a:cubicBezTo>
                  <a:pt x="113384" y="228600"/>
                  <a:pt x="121920" y="239270"/>
                  <a:pt x="121920" y="252413"/>
                </a:cubicBezTo>
                <a:cubicBezTo>
                  <a:pt x="121920" y="265555"/>
                  <a:pt x="113384" y="276225"/>
                  <a:pt x="102870" y="276225"/>
                </a:cubicBezTo>
                <a:cubicBezTo>
                  <a:pt x="92356" y="276225"/>
                  <a:pt x="83820" y="265555"/>
                  <a:pt x="83820" y="252413"/>
                </a:cubicBezTo>
                <a:cubicBezTo>
                  <a:pt x="83820" y="239270"/>
                  <a:pt x="92356" y="228600"/>
                  <a:pt x="102870" y="228600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0" y="39624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participant moves due to an unrelated parental job transfer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2000" y="5270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MCAR may have a real cause, but that cause is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unrelated to the substantive variable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relevant data.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477000"/>
            <a:ext cx="14732000" cy="635000"/>
          </a:xfrm>
          <a:prstGeom prst="rect">
            <a:avLst/>
          </a:prstGeom>
          <a:solidFill>
            <a:srgbClr val="2D4A52">
              <a:alpha val="8235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6477000"/>
            <a:ext cx="50800" cy="635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65405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MCAR = missingness unrelated to relevant information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 — Missing at Random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14732000" cy="889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651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Missingness depends on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observed and measured information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can be included in the missing-data analysis model.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794000"/>
            <a:ext cx="8890000" cy="2032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2921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1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16000" y="3238500"/>
            <a:ext cx="8382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readers fail to finish the final page of a survey. Reading speed was measured early in the questionnaire.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4064000"/>
            <a:ext cx="838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Reading speed → R (missingness)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160000" y="2794000"/>
            <a:ext cx="5334000" cy="2032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0" y="2946400"/>
            <a:ext cx="482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spc="1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IMPLICATION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414000" y="3365500"/>
            <a:ext cx="482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reading speed is included in MI or ML, the missingness can be handled under MAR.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2000" y="520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 Clarifications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62000" y="5842000"/>
            <a:ext cx="762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5715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 does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mean missingness was literally random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477000"/>
            <a:ext cx="762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350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MAR predictor does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need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belong to the main model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7112000"/>
            <a:ext cx="762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6985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may be included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because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predicts the missing value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36000" y="5715000"/>
            <a:ext cx="6858000" cy="1524000"/>
          </a:xfrm>
          <a:prstGeom prst="rect">
            <a:avLst/>
          </a:prstGeom>
          <a:solidFill>
            <a:srgbClr val="2D4A52">
              <a:alpha val="8235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636000" y="5715000"/>
            <a:ext cx="50800" cy="1524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8" name="Text 26"/>
          <p:cNvSpPr/>
          <p:nvPr/>
        </p:nvSpPr>
        <p:spPr>
          <a:xfrm>
            <a:off x="8890000" y="5969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 = missingness related to known information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NMAR — Not Missing at Random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14732000" cy="889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651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observed variables are taken into account, missingness still depends on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unavailable information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279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Sources of Unavailable Info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2000" y="3365500"/>
            <a:ext cx="7048500" cy="1524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3492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87500" y="34925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missing value itself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87500" y="39370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 with extremely high income avoid reporting income. The missing value directly causes the missingness.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45500" y="3365500"/>
            <a:ext cx="7048500" cy="1524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3492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271000" y="34925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unmeasured related variable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71000" y="39370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Unmeasured stigma affects both depression and willingness to answer mental-health questions.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2000" y="527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Examples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62000" y="5905500"/>
            <a:ext cx="762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7785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Participants with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severe unobserved depression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most likely to drop out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413500"/>
            <a:ext cx="762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62865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Those with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income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systematically skip income disclosure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7239000"/>
            <a:ext cx="14732000" cy="635000"/>
          </a:xfrm>
          <a:prstGeom prst="rect">
            <a:avLst/>
          </a:prstGeom>
          <a:solidFill>
            <a:srgbClr val="2D4A52">
              <a:alpha val="8235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7239000"/>
            <a:ext cx="50800" cy="635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73025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NMAR = missingness related to missing or unobserved information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MCAR vs MAR vs NMAR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3810000"/>
        </p:xfrm>
        <a:graphic>
          <a:graphicData uri="http://schemas.openxmlformats.org/drawingml/2006/table">
            <a:tbl>
              <a:tblPr/>
              <a:tblGrid>
                <a:gridCol w="2062480"/>
                <a:gridCol w="3241040"/>
                <a:gridCol w="4124960"/>
                <a:gridCol w="530352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Mechanism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Depends 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Example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Usual Handling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MCAR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Nothing outcome-relevant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Random data loss, computer failure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MI/ML; complete-case methods may also be unbiased (less efficient)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Observed information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Age or reading speed causes dropout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Include observed causes and predictors in MI/ML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NMAR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Missing or unobserved info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Severe unseen depression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Sensitivity analysis or explicit NMAR methods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5842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 vs. Inaccessible Missingness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62000" y="6413500"/>
            <a:ext cx="7048500" cy="1524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16000" y="65151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100" kern="0" dirty="0">
                <a:solidFill>
                  <a:srgbClr val="4A8C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16000" y="6858000"/>
            <a:ext cx="654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cause of missingness was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Example: age predicts dropout. Including age in MI/ML makes MAR plausible.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445500" y="6413500"/>
            <a:ext cx="7048500" cy="1524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6" name="Text 13"/>
          <p:cNvSpPr/>
          <p:nvPr/>
        </p:nvSpPr>
        <p:spPr>
          <a:xfrm>
            <a:off x="8699500" y="65151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100" kern="0" dirty="0">
                <a:solidFill>
                  <a:srgbClr val="C44E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INACCESSIBLE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99500" y="6858000"/>
            <a:ext cx="654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cause is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unmeasured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is the missing outcome itself. Example: current severe depression causes dropout.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MAR Be Proven?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14732000" cy="889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651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Usually, MAR cannot be conclusively proven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observed dataset alone.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279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Fundamental Paradox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2000" y="3365500"/>
            <a:ext cx="8890000" cy="1524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492500"/>
            <a:ext cx="838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prove that people with very high incomes skip the income question, researchers would need the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incomes of the nonrespondents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exactly the information that is missing.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60000" y="2794000"/>
            <a:ext cx="5334000" cy="2667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6" name="Text 14"/>
          <p:cNvSpPr/>
          <p:nvPr/>
        </p:nvSpPr>
        <p:spPr>
          <a:xfrm>
            <a:off x="10414000" y="2946400"/>
            <a:ext cx="482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1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14000" y="33528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MAR is generally an </a:t>
            </a:r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assumption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Observed evidence can make it more or less </a:t>
            </a:r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plausible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Diagnostics and sensitivity analysis help </a:t>
            </a:r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 adequacy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2000" y="571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Baseline Comparisons Do Not Prove MAR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223000"/>
          <a:ext cx="5080000" cy="1270000"/>
        </p:xfrm>
        <a:graphic>
          <a:graphicData uri="http://schemas.openxmlformats.org/drawingml/2006/table">
            <a:tbl>
              <a:tblPr/>
              <a:tblGrid>
                <a:gridCol w="2286000"/>
                <a:gridCol w="1397000"/>
                <a:gridCol w="1397000"/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Baseline Variable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Stayed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Dropped Out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Depression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17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50000" y="6223000"/>
            <a:ext cx="914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they can do: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Identify measured predictors of dropout to include in MI/ML.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they cannot do: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Rule out that dropout still depends on a later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unobserved outcome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such as current depression after baseline is controlled.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62000" y="7810500"/>
            <a:ext cx="14732000" cy="571500"/>
          </a:xfrm>
          <a:prstGeom prst="rect">
            <a:avLst/>
          </a:prstGeom>
          <a:solidFill>
            <a:srgbClr val="2D4A52">
              <a:alpha val="8235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62000" y="7810500"/>
            <a:ext cx="50800" cy="5715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3" name="Text 20"/>
          <p:cNvSpPr/>
          <p:nvPr/>
        </p:nvSpPr>
        <p:spPr>
          <a:xfrm>
            <a:off x="1016000" y="7874000"/>
            <a:ext cx="1422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comparisons reveal observed differences; they do not eliminate NMAR concerns.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 Assessment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62000" y="46990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953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estimation bias, its measures,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the factors that determine whether missingness materially distorts results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Estimation Bias?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14732000" cy="5715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6764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main question: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Does NMAR destroy the analysis? Not automatically — the remaining NMAR component may produce very small bias.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266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Bias Formula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2000" y="3238500"/>
            <a:ext cx="6350000" cy="635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3274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Bias = Average Estimate − True Value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2000" y="44450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True coefficient = −0.481; average estimate = −0.468; raw bias ≈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+0.013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36000" y="2667000"/>
            <a:ext cx="6858000" cy="2540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0" y="2819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spc="1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DIFFERENT QUESTIONS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90000" y="3302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significance: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average bias detectably different from zero?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90000" y="4191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significance: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bias large enough to alter the interpretation or decision?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715000"/>
            <a:ext cx="14732000" cy="1016000"/>
          </a:xfrm>
          <a:prstGeom prst="rect">
            <a:avLst/>
          </a:prstGeom>
          <a:solidFill>
            <a:srgbClr val="2D4A52">
              <a:alpha val="8235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5715000"/>
            <a:ext cx="50800" cy="1016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5778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useful question is not merely whether some NMAR departure exists.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 unobserved missingness process strong enough to materially distort the substantive estimate?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7112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tiny imperfection can be statistically significant without being substantively damaging.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of Bias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4699000" cy="3810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752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1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BIAS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16000" y="2159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SB = [(Est − Pop) / SE] × 100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794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|SB| below ~40 is often treated as tolerably small.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|SB| above ~40–50 may begin to harm coverage and efficiency.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78500" y="1587500"/>
            <a:ext cx="4699000" cy="3810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5" name="Text 13"/>
          <p:cNvSpPr/>
          <p:nvPr/>
        </p:nvSpPr>
        <p:spPr>
          <a:xfrm>
            <a:off x="6032500" y="1752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1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RELATIVE BIAS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2500" y="2159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RB = (Est − True) / True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0" y="2794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Expresses error as a proportion of the true effect.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sensitive to sample size, but unstable when true effect is near zero.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795000" y="1587500"/>
            <a:ext cx="4699000" cy="3810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0" y="1752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1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49000" y="2159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Root-Mean-Square Error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2794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systematic bias and variability.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Describes overall estimation accuracy in a single metric.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2000" y="5651500"/>
            <a:ext cx="14732000" cy="1016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9500" y="594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2489" y="228600"/>
                </a:moveTo>
                <a:cubicBezTo>
                  <a:pt x="238284" y="215325"/>
                  <a:pt x="249872" y="203299"/>
                  <a:pt x="262969" y="192941"/>
                </a:cubicBezTo>
                <a:cubicBezTo>
                  <a:pt x="288925" y="172462"/>
                  <a:pt x="304800" y="144780"/>
                  <a:pt x="304800" y="114300"/>
                </a:cubicBezTo>
                <a:cubicBezTo>
                  <a:pt x="304800" y="51197"/>
                  <a:pt x="236537" y="0"/>
                  <a:pt x="152400" y="0"/>
                </a:cubicBezTo>
                <a:cubicBezTo>
                  <a:pt x="68262" y="0"/>
                  <a:pt x="0" y="51197"/>
                  <a:pt x="0" y="114300"/>
                </a:cubicBezTo>
                <a:cubicBezTo>
                  <a:pt x="0" y="144780"/>
                  <a:pt x="15875" y="172462"/>
                  <a:pt x="41831" y="192941"/>
                </a:cubicBezTo>
                <a:cubicBezTo>
                  <a:pt x="54928" y="203299"/>
                  <a:pt x="66596" y="215325"/>
                  <a:pt x="72311" y="228600"/>
                </a:cubicBezTo>
                <a:lnTo>
                  <a:pt x="232410" y="228600"/>
                </a:lnTo>
                <a:close/>
                <a:moveTo>
                  <a:pt x="228600" y="257175"/>
                </a:moveTo>
                <a:lnTo>
                  <a:pt x="76200" y="257175"/>
                </a:lnTo>
                <a:lnTo>
                  <a:pt x="76200" y="266700"/>
                </a:lnTo>
                <a:cubicBezTo>
                  <a:pt x="76200" y="293013"/>
                  <a:pt x="104616" y="314325"/>
                  <a:pt x="139700" y="314325"/>
                </a:cubicBezTo>
                <a:lnTo>
                  <a:pt x="165100" y="314325"/>
                </a:lnTo>
                <a:cubicBezTo>
                  <a:pt x="200184" y="314325"/>
                  <a:pt x="228600" y="293013"/>
                  <a:pt x="228600" y="266700"/>
                </a:cubicBezTo>
                <a:lnTo>
                  <a:pt x="228600" y="257175"/>
                </a:lnTo>
                <a:close/>
                <a:moveTo>
                  <a:pt x="146050" y="66675"/>
                </a:moveTo>
                <a:cubicBezTo>
                  <a:pt x="114459" y="66675"/>
                  <a:pt x="88900" y="85844"/>
                  <a:pt x="88900" y="109537"/>
                </a:cubicBezTo>
                <a:cubicBezTo>
                  <a:pt x="88900" y="117455"/>
                  <a:pt x="80407" y="123825"/>
                  <a:pt x="69850" y="123825"/>
                </a:cubicBezTo>
                <a:cubicBezTo>
                  <a:pt x="59293" y="123825"/>
                  <a:pt x="50800" y="117455"/>
                  <a:pt x="50800" y="109537"/>
                </a:cubicBezTo>
                <a:cubicBezTo>
                  <a:pt x="50800" y="70068"/>
                  <a:pt x="93424" y="38100"/>
                  <a:pt x="146050" y="38100"/>
                </a:cubicBezTo>
                <a:cubicBezTo>
                  <a:pt x="156607" y="38100"/>
                  <a:pt x="165100" y="44470"/>
                  <a:pt x="165100" y="52388"/>
                </a:cubicBezTo>
                <a:cubicBezTo>
                  <a:pt x="165100" y="60305"/>
                  <a:pt x="156607" y="66675"/>
                  <a:pt x="146050" y="66675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5715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several indicators rather than relying on a single threshold.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Main Factors Affecting Bias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3429000" cy="2286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17145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714500" y="1778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% Missing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2500" y="2413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percentage of Y that is missing. More missing data generally means more potential for bias.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21200" y="1587500"/>
            <a:ext cx="3429000" cy="2286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5" name="Text 13"/>
          <p:cNvSpPr/>
          <p:nvPr/>
        </p:nvSpPr>
        <p:spPr>
          <a:xfrm>
            <a:off x="4711700" y="17145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473700" y="1778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pPr algn="l">
              <a:lnSpc>
                <a:spcPct val="120000"/>
              </a:lnSpc>
            </a:pPr>
            <a:r>
              <a:rPr lang="en-US" sz="14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11700" y="2413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substantive relationship the researcher wants to estimate.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80400" y="1587500"/>
            <a:ext cx="3429000" cy="2286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9" name="Text 17"/>
          <p:cNvSpPr/>
          <p:nvPr/>
        </p:nvSpPr>
        <p:spPr>
          <a:xfrm>
            <a:off x="8470900" y="17145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232900" y="1778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pPr algn="l">
              <a:lnSpc>
                <a:spcPct val="120000"/>
              </a:lnSpc>
            </a:pPr>
            <a:r>
              <a:rPr lang="en-US" sz="14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70900" y="2413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relationship between the cause of missingness Z and the outcome 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039600" y="1587500"/>
            <a:ext cx="3429000" cy="2286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23" name="Text 21"/>
          <p:cNvSpPr/>
          <p:nvPr/>
        </p:nvSpPr>
        <p:spPr>
          <a:xfrm>
            <a:off x="12230100" y="17145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2992100" y="1778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pPr algn="l">
              <a:lnSpc>
                <a:spcPct val="120000"/>
              </a:lnSpc>
            </a:pPr>
            <a:r>
              <a:rPr lang="en-US" sz="14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230100" y="2413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relationship between Z and whether Y is observed.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2000" y="4254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Highest-Risk Combination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62000" y="4826000"/>
            <a:ext cx="14732000" cy="762000"/>
          </a:xfrm>
          <a:prstGeom prst="rect">
            <a:avLst/>
          </a:prstGeom>
          <a:solidFill>
            <a:srgbClr val="C44E4E">
              <a:alpha val="8235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4826000"/>
            <a:ext cx="50800" cy="762000"/>
          </a:xfrm>
          <a:prstGeom prst="rect">
            <a:avLst/>
          </a:prstGeom>
          <a:solidFill>
            <a:srgbClr val="C44E4E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" y="4889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Much missing data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plus a Z that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strongly predicts both Y and R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the highest bias risk.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596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Previous Waves Reduce Bias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62000" y="6540500"/>
            <a:ext cx="14732000" cy="1524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66675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zero-order correlation between a suspected cause and the final outcome may appear very high (e.g., r = .913). However, after controlling for earlier waves, the unique relationship may fall dramatically (e.g., to r = .442).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Earlier waves strongly predict the missing outcome, reduce residual information, and make MAR-based methods more plausible.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Solutions &amp; Best Practices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62000" y="46990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953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Sensitivity analysis, diagnostics,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strategies to make MAR more plausible in study design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Sensitivity Analysis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14732000" cy="762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651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Because the true NMAR mechanism is normally unknown, researchers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the analysis under several plausible assumptions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266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Depression Score Scenarios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238500"/>
          <a:ext cx="7620000" cy="21590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4749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Assumption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Missing Depression Score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Baseline (MAR)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Equal to MAR prediction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Mild departure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 points worse than MAR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Moderate departure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 points worse than MAR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Extreme departure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 points worse than MAR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571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 Interpretation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62000" y="6286500"/>
            <a:ext cx="4699000" cy="1016000"/>
          </a:xfrm>
          <a:prstGeom prst="rect">
            <a:avLst/>
          </a:prstGeom>
          <a:solidFill>
            <a:srgbClr val="4A8C5A">
              <a:alpha val="8235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62000" y="6286500"/>
            <a:ext cx="50800" cy="1016000"/>
          </a:xfrm>
          <a:prstGeom prst="rect">
            <a:avLst/>
          </a:prstGeom>
          <a:solidFill>
            <a:srgbClr val="4A8C5A"/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6350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unchanged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throughout → Finding is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778500" y="6286500"/>
            <a:ext cx="4699000" cy="1016000"/>
          </a:xfrm>
          <a:prstGeom prst="rect">
            <a:avLst/>
          </a:prstGeom>
          <a:solidFill>
            <a:srgbClr val="C44E4E">
              <a:alpha val="8235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778500" y="6286500"/>
            <a:ext cx="50800" cy="1016000"/>
          </a:xfrm>
          <a:prstGeom prst="rect">
            <a:avLst/>
          </a:prstGeom>
          <a:solidFill>
            <a:srgbClr val="C44E4E"/>
          </a:solidFill>
          <a:ln/>
        </p:spPr>
      </p:sp>
      <p:sp>
        <p:nvSpPr>
          <p:cNvPr id="20" name="Text 17"/>
          <p:cNvSpPr/>
          <p:nvPr/>
        </p:nvSpPr>
        <p:spPr>
          <a:xfrm>
            <a:off x="6032500" y="6350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changes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 mild departures → Finding is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fragile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0795000" y="6286500"/>
            <a:ext cx="4699000" cy="1016000"/>
          </a:xfrm>
          <a:prstGeom prst="rect">
            <a:avLst/>
          </a:prstGeom>
          <a:solidFill>
            <a:srgbClr val="D4A017">
              <a:alpha val="8235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0795000" y="6286500"/>
            <a:ext cx="50800" cy="10160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3" name="Text 20"/>
          <p:cNvSpPr/>
          <p:nvPr/>
        </p:nvSpPr>
        <p:spPr>
          <a:xfrm>
            <a:off x="11049000" y="6350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Changes only under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departures → Finding is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reasonably stable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890000" y="2667000"/>
            <a:ext cx="6604000" cy="2540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25" name="Text 22"/>
          <p:cNvSpPr/>
          <p:nvPr/>
        </p:nvSpPr>
        <p:spPr>
          <a:xfrm>
            <a:off x="9144000" y="28194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spc="1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KEY QUESTION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144000" y="3302000"/>
            <a:ext cx="609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extreme must the unseen missingness process be before the conclusion changes?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Diagnostics &amp; NMAR Methods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52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Longitudinal Diagnostics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2000" y="2032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Plots across several waves reveal trajectories and constrain plausible missing final values.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2000" y="3048000"/>
            <a:ext cx="7620000" cy="889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31496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0 = 20, Week 1 = 16, Week 3 = 11, Week 6 =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Continued improvement is more plausible than an unexplained extreme reversal.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2000" y="4254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Attrition May Depend 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62000" y="4889500"/>
            <a:ext cx="762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4762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Treatment 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0" y="4889500"/>
            <a:ext cx="762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8" name="Text 16"/>
          <p:cNvSpPr/>
          <p:nvPr/>
        </p:nvSpPr>
        <p:spPr>
          <a:xfrm>
            <a:off x="4064000" y="4762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 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0" y="4889500"/>
            <a:ext cx="762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7112000" y="4762500"/>
            <a:ext cx="190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Interaction P×Y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334000"/>
            <a:ext cx="7620000" cy="1270000"/>
          </a:xfrm>
          <a:prstGeom prst="rect">
            <a:avLst/>
          </a:prstGeom>
          <a:solidFill>
            <a:srgbClr val="C44E4E">
              <a:alpha val="823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334000"/>
            <a:ext cx="50800" cy="1270000"/>
          </a:xfrm>
          <a:prstGeom prst="rect">
            <a:avLst/>
          </a:prstGeom>
          <a:solidFill>
            <a:srgbClr val="C44E4E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435600"/>
            <a:ext cx="7112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Hardest case: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Treated participants who improve leave because they feel cured, while control participants who worsen leave to seek other treatment.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152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Possible NMAR Methods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144000" y="2095500"/>
            <a:ext cx="6350000" cy="889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26" name="Shape 24"/>
          <p:cNvSpPr/>
          <p:nvPr/>
        </p:nvSpPr>
        <p:spPr>
          <a:xfrm>
            <a:off x="9398000" y="234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7" name="Text 25"/>
          <p:cNvSpPr/>
          <p:nvPr/>
        </p:nvSpPr>
        <p:spPr>
          <a:xfrm>
            <a:off x="9842500" y="2222500"/>
            <a:ext cx="5397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Pattern-mixture models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44000" y="3175000"/>
            <a:ext cx="6350000" cy="889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29" name="Shape 27"/>
          <p:cNvSpPr/>
          <p:nvPr/>
        </p:nvSpPr>
        <p:spPr>
          <a:xfrm>
            <a:off x="9398000" y="342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11370" y="38100"/>
                  <a:pt x="4405" y="42743"/>
                  <a:pt x="1429" y="49887"/>
                </a:cubicBezTo>
                <a:cubicBezTo>
                  <a:pt x="-1548" y="57031"/>
                  <a:pt x="119" y="65187"/>
                  <a:pt x="5596" y="70604"/>
                </a:cubicBezTo>
                <a:lnTo>
                  <a:pt x="114300" y="179368"/>
                </a:lnTo>
                <a:lnTo>
                  <a:pt x="114300" y="247650"/>
                </a:lnTo>
                <a:cubicBezTo>
                  <a:pt x="114300" y="252710"/>
                  <a:pt x="116324" y="257532"/>
                  <a:pt x="119896" y="261104"/>
                </a:cubicBezTo>
                <a:lnTo>
                  <a:pt x="157996" y="299204"/>
                </a:lnTo>
                <a:cubicBezTo>
                  <a:pt x="163473" y="304681"/>
                  <a:pt x="171629" y="306288"/>
                  <a:pt x="178772" y="303312"/>
                </a:cubicBezTo>
                <a:cubicBezTo>
                  <a:pt x="185916" y="300335"/>
                  <a:pt x="190500" y="293430"/>
                  <a:pt x="190500" y="285750"/>
                </a:cubicBezTo>
                <a:lnTo>
                  <a:pt x="190500" y="179368"/>
                </a:lnTo>
                <a:lnTo>
                  <a:pt x="299204" y="70664"/>
                </a:lnTo>
                <a:cubicBezTo>
                  <a:pt x="304681" y="65187"/>
                  <a:pt x="306288" y="57031"/>
                  <a:pt x="303312" y="49887"/>
                </a:cubicBezTo>
                <a:cubicBezTo>
                  <a:pt x="300335" y="42743"/>
                  <a:pt x="293430" y="38100"/>
                  <a:pt x="285750" y="38100"/>
                </a:cubicBezTo>
                <a:lnTo>
                  <a:pt x="19050" y="38100"/>
                </a:ln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30" name="Text 28"/>
          <p:cNvSpPr/>
          <p:nvPr/>
        </p:nvSpPr>
        <p:spPr>
          <a:xfrm>
            <a:off x="9842500" y="3302000"/>
            <a:ext cx="5397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 models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144000" y="4254500"/>
            <a:ext cx="6350000" cy="889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32" name="Shape 30"/>
          <p:cNvSpPr/>
          <p:nvPr/>
        </p:nvSpPr>
        <p:spPr>
          <a:xfrm>
            <a:off x="9398000" y="450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142875" y="57150"/>
                </a:moveTo>
                <a:cubicBezTo>
                  <a:pt x="146864" y="57150"/>
                  <a:pt x="150674" y="58817"/>
                  <a:pt x="153412" y="61793"/>
                </a:cubicBezTo>
                <a:lnTo>
                  <a:pt x="195739" y="107930"/>
                </a:lnTo>
                <a:lnTo>
                  <a:pt x="223242" y="80367"/>
                </a:lnTo>
                <a:cubicBezTo>
                  <a:pt x="228838" y="74771"/>
                  <a:pt x="237887" y="74771"/>
                  <a:pt x="243423" y="80367"/>
                </a:cubicBezTo>
                <a:lnTo>
                  <a:pt x="281523" y="118467"/>
                </a:lnTo>
                <a:cubicBezTo>
                  <a:pt x="284202" y="121146"/>
                  <a:pt x="285690" y="124777"/>
                  <a:pt x="285690" y="128588"/>
                </a:cubicBezTo>
                <a:lnTo>
                  <a:pt x="285690" y="195263"/>
                </a:lnTo>
                <a:cubicBezTo>
                  <a:pt x="285690" y="203180"/>
                  <a:pt x="279321" y="209550"/>
                  <a:pt x="271403" y="209550"/>
                </a:cubicBezTo>
                <a:lnTo>
                  <a:pt x="90428" y="209550"/>
                </a:lnTo>
                <a:cubicBezTo>
                  <a:pt x="82510" y="209550"/>
                  <a:pt x="76140" y="203180"/>
                  <a:pt x="76140" y="195263"/>
                </a:cubicBezTo>
                <a:lnTo>
                  <a:pt x="76140" y="128588"/>
                </a:lnTo>
                <a:cubicBezTo>
                  <a:pt x="76140" y="125016"/>
                  <a:pt x="77510" y="121563"/>
                  <a:pt x="79891" y="118943"/>
                </a:cubicBezTo>
                <a:lnTo>
                  <a:pt x="132278" y="61793"/>
                </a:lnTo>
                <a:cubicBezTo>
                  <a:pt x="134957" y="58817"/>
                  <a:pt x="138827" y="57150"/>
                  <a:pt x="142815" y="57150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33" name="Text 31"/>
          <p:cNvSpPr/>
          <p:nvPr/>
        </p:nvSpPr>
        <p:spPr>
          <a:xfrm>
            <a:off x="9842500" y="4381500"/>
            <a:ext cx="5397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Bayesian sensitivity models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144000" y="5461000"/>
            <a:ext cx="6350000" cy="1143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5" name="Shape 33"/>
          <p:cNvSpPr/>
          <p:nvPr/>
        </p:nvSpPr>
        <p:spPr>
          <a:xfrm>
            <a:off x="9398000" y="577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36" name="Text 34"/>
          <p:cNvSpPr/>
          <p:nvPr/>
        </p:nvSpPr>
        <p:spPr>
          <a:xfrm>
            <a:off x="9842500" y="5588000"/>
            <a:ext cx="539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wrongly specified NMAR model can be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biased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a reasonable MAR model.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Make MAR More Plausible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4699000" cy="3937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17526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714500" y="1778000"/>
            <a:ext cx="349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Possible Causes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2500" y="2349500"/>
            <a:ext cx="431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Motivation and intention to leave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Reading speed and survey burden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Treatment satisfaction and side effects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Mobility and school engagement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Perceived recovery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78500" y="1587500"/>
            <a:ext cx="4699000" cy="3937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5" name="Text 13"/>
          <p:cNvSpPr/>
          <p:nvPr/>
        </p:nvSpPr>
        <p:spPr>
          <a:xfrm>
            <a:off x="5969000" y="17526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31000" y="1778000"/>
            <a:ext cx="349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Auxiliary Variables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69000" y="2349500"/>
            <a:ext cx="431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Earlier measurements of Y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predictors of Y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predicting R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Useful proxy measures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795000" y="1587500"/>
            <a:ext cx="4699000" cy="393700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85500" y="17526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1747500" y="1778000"/>
            <a:ext cx="349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 Up Missing Participants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85500" y="2349500"/>
            <a:ext cx="431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Randomly select nonrespondents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Intensively recover the outcome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Obtain a shorter assessment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 a proxy or the reason for dropout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2000" y="5969000"/>
            <a:ext cx="14732000" cy="8890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032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design goal: convert inaccessible information into observed information.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3" name="Shape 1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 Mechanisms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 Bias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 Solutions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2D4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Flowchart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6223000" y="1524000"/>
            <a:ext cx="3810000" cy="457200"/>
          </a:xfrm>
          <a:prstGeom prst="rect">
            <a:avLst/>
          </a:prstGeom>
          <a:solidFill>
            <a:srgbClr val="2D4A52"/>
          </a:solidFill>
          <a:ln/>
        </p:spPr>
      </p:sp>
      <p:sp>
        <p:nvSpPr>
          <p:cNvPr id="11" name="Text 9"/>
          <p:cNvSpPr/>
          <p:nvPr/>
        </p:nvSpPr>
        <p:spPr>
          <a:xfrm>
            <a:off x="6223000" y="1524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0" y="1981200"/>
            <a:ext cx="0" cy="254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6223000" y="2235200"/>
            <a:ext cx="3810000" cy="457200"/>
          </a:xfrm>
          <a:prstGeom prst="rect">
            <a:avLst/>
          </a:prstGeom>
          <a:solidFill>
            <a:srgbClr val="3D5A62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22352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Model: X → 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8000" y="2692400"/>
            <a:ext cx="0" cy="254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223000" y="2946400"/>
            <a:ext cx="3810000" cy="457200"/>
          </a:xfrm>
          <a:prstGeom prst="rect">
            <a:avLst/>
          </a:prstGeom>
          <a:solidFill>
            <a:srgbClr val="3D5A62"/>
          </a:solidFill>
          <a:ln/>
        </p:spPr>
      </p:sp>
      <p:sp>
        <p:nvSpPr>
          <p:cNvPr id="17" name="Text 15"/>
          <p:cNvSpPr/>
          <p:nvPr/>
        </p:nvSpPr>
        <p:spPr>
          <a:xfrm>
            <a:off x="6223000" y="29464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Missing Variables → Define 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8000" y="3403600"/>
            <a:ext cx="0" cy="254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6223000" y="3657600"/>
            <a:ext cx="3810000" cy="457200"/>
          </a:xfrm>
          <a:prstGeom prst="rect">
            <a:avLst/>
          </a:prstGeom>
          <a:solidFill>
            <a:srgbClr val="3D5A62"/>
          </a:solidFill>
          <a:ln/>
        </p:spPr>
      </p:sp>
      <p:sp>
        <p:nvSpPr>
          <p:cNvPr id="20" name="Text 18"/>
          <p:cNvSpPr/>
          <p:nvPr/>
        </p:nvSpPr>
        <p:spPr>
          <a:xfrm>
            <a:off x="6223000" y="36576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Ask Why → Creation Model: Z → 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28000" y="4114800"/>
            <a:ext cx="0" cy="254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6223000" y="4368800"/>
            <a:ext cx="3810000" cy="457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3" name="Text 21"/>
          <p:cNvSpPr/>
          <p:nvPr/>
        </p:nvSpPr>
        <p:spPr>
          <a:xfrm>
            <a:off x="6223000" y="43688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Classify MCAR / MAR / NMAR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28000" y="4826000"/>
            <a:ext cx="0" cy="254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6223000" y="5080000"/>
            <a:ext cx="3810000" cy="457200"/>
          </a:xfrm>
          <a:prstGeom prst="rect">
            <a:avLst/>
          </a:prstGeom>
          <a:solidFill>
            <a:srgbClr val="3D5A62"/>
          </a:solidFill>
          <a:ln/>
        </p:spPr>
      </p:sp>
      <p:sp>
        <p:nvSpPr>
          <p:cNvPr id="26" name="Text 24"/>
          <p:cNvSpPr/>
          <p:nvPr/>
        </p:nvSpPr>
        <p:spPr>
          <a:xfrm>
            <a:off x="6223000" y="5080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MI or ML with Observed Predictors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28000" y="5537200"/>
            <a:ext cx="0" cy="254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6223000" y="5791200"/>
            <a:ext cx="3810000" cy="457200"/>
          </a:xfrm>
          <a:prstGeom prst="rect">
            <a:avLst/>
          </a:prstGeom>
          <a:solidFill>
            <a:srgbClr val="3D5A62"/>
          </a:solidFill>
          <a:ln/>
        </p:spPr>
      </p:sp>
      <p:sp>
        <p:nvSpPr>
          <p:cNvPr id="29" name="Text 27"/>
          <p:cNvSpPr/>
          <p:nvPr/>
        </p:nvSpPr>
        <p:spPr>
          <a:xfrm>
            <a:off x="6223000" y="57912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 Residual NMAR Concern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28000" y="6248400"/>
            <a:ext cx="0" cy="254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5588000" y="6502400"/>
            <a:ext cx="5080000" cy="457200"/>
          </a:xfrm>
          <a:prstGeom prst="rect">
            <a:avLst/>
          </a:prstGeom>
          <a:solidFill>
            <a:srgbClr val="3D5A62"/>
          </a:solidFill>
          <a:ln/>
        </p:spPr>
      </p:sp>
      <p:sp>
        <p:nvSpPr>
          <p:cNvPr id="32" name="Text 30"/>
          <p:cNvSpPr/>
          <p:nvPr/>
        </p:nvSpPr>
        <p:spPr>
          <a:xfrm>
            <a:off x="5588000" y="65024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Examine % Missing, rXY, rZY, rZR, Earlier Waves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28000" y="6959600"/>
            <a:ext cx="0" cy="254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223000" y="7213600"/>
            <a:ext cx="3810000" cy="457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5" name="Text 33"/>
          <p:cNvSpPr/>
          <p:nvPr/>
        </p:nvSpPr>
        <p:spPr>
          <a:xfrm>
            <a:off x="6223000" y="72136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Conduct Sensitivity Analysis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62000" y="7874000"/>
            <a:ext cx="7048500" cy="635000"/>
          </a:xfrm>
          <a:prstGeom prst="rect">
            <a:avLst/>
          </a:prstGeom>
          <a:solidFill>
            <a:srgbClr val="4A8C5A">
              <a:alpha val="8235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62000" y="7874000"/>
            <a:ext cx="50800" cy="635000"/>
          </a:xfrm>
          <a:prstGeom prst="rect">
            <a:avLst/>
          </a:prstGeom>
          <a:solidFill>
            <a:srgbClr val="4A8C5A"/>
          </a:solidFill>
          <a:ln/>
        </p:spPr>
      </p:sp>
      <p:sp>
        <p:nvSpPr>
          <p:cNvPr id="38" name="Text 36"/>
          <p:cNvSpPr/>
          <p:nvPr/>
        </p:nvSpPr>
        <p:spPr>
          <a:xfrm>
            <a:off x="1016000" y="7937500"/>
            <a:ext cx="654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Result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Greater Confidence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445500" y="7874000"/>
            <a:ext cx="7048500" cy="635000"/>
          </a:xfrm>
          <a:prstGeom prst="rect">
            <a:avLst/>
          </a:prstGeom>
          <a:solidFill>
            <a:srgbClr val="C44E4E">
              <a:alpha val="8235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45500" y="7874000"/>
            <a:ext cx="50800" cy="635000"/>
          </a:xfrm>
          <a:prstGeom prst="rect">
            <a:avLst/>
          </a:prstGeom>
          <a:solidFill>
            <a:srgbClr val="C44E4E"/>
          </a:solidFill>
          <a:ln/>
        </p:spPr>
      </p:sp>
      <p:sp>
        <p:nvSpPr>
          <p:cNvPr id="41" name="Text 39"/>
          <p:cNvSpPr/>
          <p:nvPr/>
        </p:nvSpPr>
        <p:spPr>
          <a:xfrm>
            <a:off x="8699500" y="7937500"/>
            <a:ext cx="654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Fragile Result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Cautious Interpretation or NMAR Model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D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spc="3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2794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usually cannot prove that MAR is perfectly true.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45720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4889500"/>
            <a:ext cx="1270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Instead, we collect strong observed predictors,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missingness carefully,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 the likely size of residual NMAR bias,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B0C4C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test whether reasonable departures from MAR actually change the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7620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spc="200" kern="0" dirty="0">
                <a:solidFill>
                  <a:srgbClr val="7A8B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→ MISSINGNESS → ASSUMPTION → ANALYSIS → CONCLUSION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Missing Data Theory</dc:title>
  <dc:subject>Missing Data Theory</dc:subject>
  <dc:creator>Kimi</dc:creator>
  <cp:lastModifiedBy>Kimi</cp:lastModifiedBy>
  <cp:revision>1</cp:revision>
  <dcterms:created xsi:type="dcterms:W3CDTF">2026-06-15T16:09:25Z</dcterms:created>
  <dcterms:modified xsi:type="dcterms:W3CDTF">2026-06-15T16:09:25Z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{"Label":"Missing Data Theory","ContentProducer":"001191110108MACG2KBH8F10000","ProduceID":"19ecbf8e-ce12-855f-8000-0000c1f29a18","ReservedCode1":"","ContentPropagator":"001191110108MACG2KBH8F20000","PropagateID":"19ecbf65-5ac2-897e-8000-09505288e55f","ReservedCode2":""}</vt:lpwstr>
  </property>
</Properties>
</file>